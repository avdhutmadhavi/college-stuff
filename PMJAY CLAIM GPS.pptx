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076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23305" y="885256"/>
            <a:ext cx="4945389" cy="576616"/>
          </a:xfrm>
        </p:spPr>
        <p:txBody>
          <a:bodyPr/>
          <a:lstStyle/>
          <a:p>
            <a:pPr algn="ctr">
              <a:defRPr sz="2500" b="1">
                <a:solidFill>
                  <a:srgbClr val="1E5896"/>
                </a:solidFill>
              </a:defRPr>
            </a:pPr>
            <a:r>
              <a:rPr sz="3000" dirty="0"/>
              <a:t>PM-JAY CLAIM GPS</a:t>
            </a:r>
          </a:p>
        </p:txBody>
      </p:sp>
      <p:pic>
        <p:nvPicPr>
          <p:cNvPr id="9" name="Picture 8" descr="QualCampus">
            <a:extLst>
              <a:ext uri="{FF2B5EF4-FFF2-40B4-BE49-F238E27FC236}">
                <a16:creationId xmlns:a16="http://schemas.microsoft.com/office/drawing/2014/main" id="{EB945D07-9AF0-3A55-ACDF-EA970677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5320" y="2076742"/>
            <a:ext cx="5440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E5896"/>
                </a:solidFill>
              </a:defRPr>
            </a:pPr>
            <a:r>
              <a:rPr sz="1600" dirty="0"/>
              <a:t>PROBLEM STATEMENT ID – PS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319" y="2488222"/>
            <a:ext cx="5778137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rPr sz="1900" dirty="0"/>
              <a:t>PM-JAY Awareness &amp; Claims Navigation in Aspirational Districts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320" y="3336067"/>
            <a:ext cx="5440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rPr sz="1600" dirty="0"/>
              <a:t>THEME – Healthcare / Public Service Accessibility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320" y="3924518"/>
            <a:ext cx="54406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rPr lang="en-US" sz="1600" dirty="0"/>
              <a:t>Name:- Avdhut Parish Madhavi</a:t>
            </a:r>
          </a:p>
          <a:p>
            <a:pPr algn="l">
              <a:defRPr sz="1300" b="0">
                <a:solidFill>
                  <a:srgbClr val="282828"/>
                </a:solidFill>
              </a:defRPr>
            </a:pPr>
            <a:r>
              <a:rPr lang="en-US" sz="1600" dirty="0"/>
              <a:t>ID:- TU3S2627005</a:t>
            </a:r>
            <a:endParaRPr sz="1600" dirty="0"/>
          </a:p>
        </p:txBody>
      </p:sp>
      <p:sp>
        <p:nvSpPr>
          <p:cNvPr id="43" name="Rounded Rectangle 42"/>
          <p:cNvSpPr/>
          <p:nvPr/>
        </p:nvSpPr>
        <p:spPr>
          <a:xfrm>
            <a:off x="6255251" y="1757073"/>
            <a:ext cx="5303520" cy="205740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700"/>
              </a:spcAft>
              <a:defRPr sz="1700" b="1">
                <a:solidFill>
                  <a:srgbClr val="1E5896"/>
                </a:solidFill>
              </a:defRPr>
            </a:pPr>
            <a:r>
              <a:t>THE PROBLEM</a:t>
            </a:r>
          </a:p>
          <a:p>
            <a:pPr>
              <a:spcAft>
                <a:spcPts val="0"/>
              </a:spcAft>
              <a:defRPr sz="1500">
                <a:solidFill>
                  <a:srgbClr val="282828"/>
                </a:solidFill>
              </a:defRPr>
            </a:pPr>
            <a:r>
              <a:t>Many eligible people do not know what PM-JAY covers. Some also struggle to find the right hospital or complete the claim process because they may have low literacy, a basic phone, or weak internet.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55251" y="4107082"/>
            <a:ext cx="5303520" cy="1051560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1E5896"/>
                </a:solidFill>
              </a:defRPr>
            </a:pPr>
            <a:r>
              <a:t>OUR IDEA</a:t>
            </a:r>
          </a:p>
          <a:p>
            <a:pPr>
              <a:spcAft>
                <a:spcPts val="0"/>
              </a:spcAft>
              <a:defRPr sz="1500">
                <a:solidFill>
                  <a:srgbClr val="282828"/>
                </a:solidFill>
              </a:defRPr>
            </a:pPr>
            <a:r>
              <a:t>Tell us what treatment you need. We guide you to the PM-JAY help available and what to do next.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0B838-5F47-B450-5081-5697B11DCEE2}"/>
              </a:ext>
            </a:extLst>
          </p:cNvPr>
          <p:cNvSpPr txBox="1"/>
          <p:nvPr/>
        </p:nvSpPr>
        <p:spPr>
          <a:xfrm>
            <a:off x="4354286" y="35885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NIRMAN LAB SE-C2-60 (SH-2026)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63800" y="0"/>
            <a:ext cx="10972800" cy="1143000"/>
          </a:xfrm>
        </p:spPr>
        <p:txBody>
          <a:bodyPr/>
          <a:lstStyle/>
          <a:p>
            <a:pPr algn="ctr">
              <a:defRPr sz="2000" b="1">
                <a:solidFill>
                  <a:srgbClr val="282828"/>
                </a:solidFill>
              </a:defRPr>
            </a:pPr>
            <a:r>
              <a:rPr sz="2400" dirty="0">
                <a:solidFill>
                  <a:schemeClr val="tx2">
                    <a:lumMod val="75000"/>
                  </a:schemeClr>
                </a:solidFill>
              </a:rPr>
              <a:t>PM-JAY CLAIM GPS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QualCampus">
            <a:extLst>
              <a:ext uri="{FF2B5EF4-FFF2-40B4-BE49-F238E27FC236}">
                <a16:creationId xmlns:a16="http://schemas.microsoft.com/office/drawing/2014/main" id="{A075F4DE-05C9-FAC3-26AC-D61830A76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02920" y="1325880"/>
            <a:ext cx="11201400" cy="59436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rPr dirty="0"/>
              <a:t>THE MAIN IDEA</a:t>
            </a:r>
          </a:p>
          <a:p>
            <a:pPr algn="ctr"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500" dirty="0"/>
              <a:t>A simple way for people to use PM-JAY without first learning how the whole system works.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66928" y="2282225"/>
            <a:ext cx="3401568" cy="2944368"/>
          </a:xfrm>
          <a:prstGeom prst="roundRect">
            <a:avLst/>
          </a:prstGeom>
          <a:solidFill>
            <a:srgbClr val="FCF0DE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rPr dirty="0"/>
              <a:t>1. TELL US YOUR NEED</a:t>
            </a:r>
          </a:p>
          <a:p>
            <a:pPr>
              <a:spcAft>
                <a:spcPts val="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The person can speak or type what treatment they need. The system uses simple local language to understand the request.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379976" y="2282225"/>
            <a:ext cx="3401568" cy="2944368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rPr dirty="0"/>
              <a:t>2. GET HELP EVEN WITH WEAK INTERNET</a:t>
            </a:r>
          </a:p>
          <a:p>
            <a:pPr>
              <a:spcAft>
                <a:spcPts val="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Use voice calls, SMS or the app. Requests can be saved when the internet is weak and sent later.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193024" y="2282225"/>
            <a:ext cx="3401568" cy="2944368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rPr dirty="0"/>
              <a:t>3. SHOW THE NEXT STEP</a:t>
            </a:r>
          </a:p>
          <a:p>
            <a:pPr>
              <a:spcAft>
                <a:spcPts val="0"/>
              </a:spcAft>
              <a:defRPr sz="1400">
                <a:solidFill>
                  <a:srgbClr val="282828"/>
                </a:solidFill>
              </a:defRPr>
            </a:pPr>
            <a:r>
              <a:rPr dirty="0"/>
              <a:t>Find a nearby PM-JAY hospital, list the documents needed, explain the next step and help check claim status.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02920" y="5687568"/>
            <a:ext cx="11064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600" b="1">
                <a:solidFill>
                  <a:srgbClr val="1E5896"/>
                </a:solidFill>
              </a:defRPr>
            </a:pPr>
            <a:r>
              <a:rPr dirty="0"/>
              <a:t>WHY IT IS DIFFERENT: The person starts with “I need this treatment”, not “How do I use PM-JAY?”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34133" y="-25854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QualCampus">
            <a:extLst>
              <a:ext uri="{FF2B5EF4-FFF2-40B4-BE49-F238E27FC236}">
                <a16:creationId xmlns:a16="http://schemas.microsoft.com/office/drawing/2014/main" id="{703B2599-F8A7-FA91-1AE5-DC27824AD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353312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 dirty="0"/>
              <a:t>User</a:t>
            </a:r>
            <a:br>
              <a:rPr sz="1600" dirty="0"/>
            </a:br>
            <a:r>
              <a:rPr sz="1600" dirty="0"/>
              <a:t>App / Voice / SMS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85216" y="14630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>
                <a:solidFill>
                  <a:srgbClr val="1E5896"/>
                </a:solidFill>
              </a:defRPr>
            </a:pPr>
            <a:r>
              <a:t>1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770632" y="1353312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 dirty="0"/>
              <a:t>Understand</a:t>
            </a:r>
            <a:br>
              <a:rPr sz="1600" dirty="0"/>
            </a:br>
            <a:r>
              <a:rPr sz="1600" dirty="0"/>
              <a:t>Local language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852927" y="14630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>
                <a:solidFill>
                  <a:srgbClr val="1E5896"/>
                </a:solidFill>
              </a:defRPr>
            </a:pPr>
            <a:r>
              <a:t>2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38344" y="1353312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 dirty="0"/>
              <a:t>Claim GPS</a:t>
            </a:r>
            <a:br>
              <a:rPr sz="1600" dirty="0"/>
            </a:br>
            <a:r>
              <a:rPr sz="1600" dirty="0"/>
              <a:t>Find PM-JAY help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120640" y="14630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>
                <a:solidFill>
                  <a:srgbClr val="1E5896"/>
                </a:solidFill>
              </a:defRPr>
            </a:pPr>
            <a:r>
              <a:t>3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306056" y="1353312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 dirty="0"/>
              <a:t>Next step</a:t>
            </a:r>
            <a:br>
              <a:rPr sz="1600" dirty="0"/>
            </a:br>
            <a:r>
              <a:rPr sz="1600" dirty="0"/>
              <a:t>Hospital / Documents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388352" y="14630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>
                <a:solidFill>
                  <a:srgbClr val="1E5896"/>
                </a:solidFill>
              </a:defRPr>
            </a:pPr>
            <a:r>
              <a:t>4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573768" y="1353312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 dirty="0"/>
              <a:t>Result</a:t>
            </a:r>
            <a:br>
              <a:rPr sz="1600" dirty="0"/>
            </a:br>
            <a:r>
              <a:rPr sz="1600" dirty="0"/>
              <a:t>Voice / SMS / Human help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656064" y="14630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>
                <a:solidFill>
                  <a:srgbClr val="1E5896"/>
                </a:solidFill>
              </a:defRPr>
            </a:pPr>
            <a:r>
              <a:t>5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441448" y="17465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200" b="1">
                <a:solidFill>
                  <a:srgbClr val="1E5896"/>
                </a:solidFill>
              </a:defRPr>
            </a:pPr>
            <a:r>
              <a:t>→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709160" y="17465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200" b="1">
                <a:solidFill>
                  <a:srgbClr val="1E5896"/>
                </a:solidFill>
              </a:defRPr>
            </a:pPr>
            <a:r>
              <a:t>→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976872" y="17465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200" b="1">
                <a:solidFill>
                  <a:srgbClr val="1E5896"/>
                </a:solidFill>
              </a:defRPr>
            </a:pPr>
            <a:r>
              <a:t>→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244584" y="17465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200" b="1">
                <a:solidFill>
                  <a:srgbClr val="1E5896"/>
                </a:solidFill>
              </a:defRPr>
            </a:pPr>
            <a:r>
              <a:t>→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66928" y="2880360"/>
            <a:ext cx="5394960" cy="233172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600" b="1">
                <a:solidFill>
                  <a:srgbClr val="1E5896"/>
                </a:solidFill>
              </a:defRPr>
            </a:pPr>
            <a:r>
              <a:rPr dirty="0"/>
              <a:t>HOW IT WORKS</a:t>
            </a:r>
          </a:p>
          <a:p>
            <a:pPr>
              <a:spcAft>
                <a:spcPts val="0"/>
              </a:spcAft>
              <a:defRPr sz="1400">
                <a:solidFill>
                  <a:srgbClr val="282828"/>
                </a:solidFill>
              </a:defRPr>
            </a:pPr>
            <a:r>
              <a:rPr sz="1600" dirty="0"/>
              <a:t>1. Person tells us the health problem.</a:t>
            </a:r>
            <a:br>
              <a:rPr sz="1600" dirty="0"/>
            </a:br>
            <a:r>
              <a:rPr sz="1600" dirty="0"/>
              <a:t>2. System checks approved PM-JAY information.</a:t>
            </a:r>
            <a:br>
              <a:rPr sz="1600" dirty="0"/>
            </a:br>
            <a:r>
              <a:rPr sz="1600" dirty="0"/>
              <a:t>3. It finds the right hospital and tells the person what to do.</a:t>
            </a:r>
            <a:br>
              <a:rPr sz="1600" dirty="0"/>
            </a:br>
            <a:r>
              <a:rPr sz="1600" dirty="0"/>
              <a:t>4. Claim status and problems can be checked later.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217920" y="2880360"/>
            <a:ext cx="5394960" cy="233172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600" b="1">
                <a:solidFill>
                  <a:srgbClr val="1E5896"/>
                </a:solidFill>
              </a:defRPr>
            </a:pPr>
            <a:r>
              <a:rPr dirty="0"/>
              <a:t>TECHNOLOGY</a:t>
            </a:r>
          </a:p>
          <a:p>
            <a:pPr>
              <a:spcAft>
                <a:spcPts val="0"/>
              </a:spcAft>
              <a:defRPr sz="1400">
                <a:solidFill>
                  <a:srgbClr val="282828"/>
                </a:solidFill>
              </a:defRPr>
            </a:pPr>
            <a:r>
              <a:rPr sz="1600" dirty="0"/>
              <a:t>• Mobile/web interface</a:t>
            </a:r>
            <a:br>
              <a:rPr sz="1600" dirty="0"/>
            </a:br>
            <a:r>
              <a:rPr sz="1600" dirty="0"/>
              <a:t>• Python or Node.js backend</a:t>
            </a:r>
            <a:br>
              <a:rPr sz="1600" dirty="0"/>
            </a:br>
            <a:r>
              <a:rPr sz="1600" dirty="0"/>
              <a:t>• Database + offline storage</a:t>
            </a:r>
            <a:br>
              <a:rPr sz="1600" dirty="0"/>
            </a:br>
            <a:r>
              <a:rPr sz="1600" dirty="0"/>
              <a:t>• Voice + IVR + SMS</a:t>
            </a:r>
            <a:br>
              <a:rPr sz="1600" dirty="0"/>
            </a:br>
            <a:r>
              <a:rPr sz="1600" dirty="0"/>
              <a:t>• Secure login and limited personal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8076" y="145322"/>
            <a:ext cx="10972800" cy="1143000"/>
          </a:xfrm>
        </p:spPr>
        <p:txBody>
          <a:bodyPr/>
          <a:lstStyle/>
          <a:p>
            <a:pPr algn="ctr">
              <a:defRPr sz="2000" b="1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FEASIBILITY AND VIABILITY</a:t>
            </a:r>
          </a:p>
        </p:txBody>
      </p:sp>
      <p:pic>
        <p:nvPicPr>
          <p:cNvPr id="3" name="Picture 2" descr="QualCampus">
            <a:extLst>
              <a:ext uri="{FF2B5EF4-FFF2-40B4-BE49-F238E27FC236}">
                <a16:creationId xmlns:a16="http://schemas.microsoft.com/office/drawing/2014/main" id="{EE4280A0-74CD-E79B-65D4-72FBD3F80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608841"/>
            <a:ext cx="3520440" cy="1115568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rPr dirty="0"/>
              <a:t>EASY TO BUILD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 dirty="0"/>
              <a:t>Uses common app, web, voice-call and offline tools.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34256" y="1608841"/>
            <a:ext cx="3520440" cy="1115568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t>EASY TO USE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/>
              <a:t>Works with existing PM-JAY help channels instead of replacing them.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119872" y="1608841"/>
            <a:ext cx="3520440" cy="1115568"/>
          </a:xfrm>
          <a:prstGeom prst="roundRect">
            <a:avLst/>
          </a:prstGeom>
          <a:solidFill>
            <a:srgbClr val="FCF0DE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t>CAN GROW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/>
              <a:t>Start in one district, test it, then add more places and languages.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3007873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t>POSSIBLE PROBLEMS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/>
              <a:t>• Weak internet</a:t>
            </a:r>
            <a:br>
              <a:rPr sz="1600"/>
            </a:br>
            <a:r>
              <a:rPr sz="1600"/>
              <a:t>• No smartphone for some users</a:t>
            </a:r>
            <a:br>
              <a:rPr sz="1600"/>
            </a:br>
            <a:r>
              <a:rPr sz="1600"/>
              <a:t>• Local accents may be hard to understand</a:t>
            </a:r>
            <a:br>
              <a:rPr sz="1600"/>
            </a:br>
            <a:r>
              <a:rPr sz="1600"/>
              <a:t>• Hospital information can change</a:t>
            </a:r>
            <a:br>
              <a:rPr sz="1600"/>
            </a:br>
            <a:r>
              <a:rPr sz="1600"/>
              <a:t>• Personal data needs protection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34256" y="3007873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t>HOW WE HANDLE THEM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/>
              <a:t>• Save requests and use SMS</a:t>
            </a:r>
            <a:br>
              <a:rPr sz="1600"/>
            </a:br>
            <a:r>
              <a:rPr sz="1600"/>
              <a:t>• Let a health worker help</a:t>
            </a:r>
            <a:br>
              <a:rPr sz="1600"/>
            </a:br>
            <a:r>
              <a:rPr sz="1600"/>
              <a:t>• Keep information updated</a:t>
            </a:r>
            <a:br>
              <a:rPr sz="1600"/>
            </a:br>
            <a:r>
              <a:rPr sz="1600"/>
              <a:t>• Collect only needed data</a:t>
            </a:r>
            <a:br>
              <a:rPr sz="1600"/>
            </a:br>
            <a:r>
              <a:rPr sz="1600"/>
              <a:t>• Use approved rules and human help when unsure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19872" y="3007873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t>FIRST PILOT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600"/>
              <a:t>• PHC, CSC and selected villages</a:t>
            </a:r>
            <a:br>
              <a:rPr sz="1600"/>
            </a:br>
            <a:r>
              <a:rPr sz="1600"/>
              <a:t>• Start with 1–2 local languages</a:t>
            </a:r>
            <a:br>
              <a:rPr sz="1600"/>
            </a:br>
            <a:r>
              <a:rPr sz="1600"/>
              <a:t>• Link hospital and helpline information</a:t>
            </a:r>
            <a:br>
              <a:rPr sz="1600"/>
            </a:br>
            <a:r>
              <a:rPr sz="1600"/>
              <a:t>• Measure where users get stuck</a:t>
            </a:r>
            <a:br>
              <a:rPr sz="1600"/>
            </a:br>
            <a:r>
              <a:rPr sz="1600"/>
              <a:t>• Improve before expanding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232568"/>
            <a:ext cx="10972800" cy="1143000"/>
          </a:xfrm>
        </p:spPr>
        <p:txBody>
          <a:bodyPr/>
          <a:lstStyle/>
          <a:p>
            <a:pPr algn="ctr">
              <a:defRPr sz="2000" b="1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5" name="Picture 4" descr="QualCampus">
            <a:extLst>
              <a:ext uri="{FF2B5EF4-FFF2-40B4-BE49-F238E27FC236}">
                <a16:creationId xmlns:a16="http://schemas.microsoft.com/office/drawing/2014/main" id="{71F3D090-F7FE-3634-309B-AC1E261B8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1699610"/>
            <a:ext cx="3657600" cy="164592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rPr sz="1400"/>
              <a:t>WHO WILL USE IT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400"/>
              <a:t>Main users: PM-JAY beneficiaries with low literacy, basic phones or weak internet.</a:t>
            </a:r>
            <a:br>
              <a:rPr sz="1400"/>
            </a:br>
            <a:br>
              <a:rPr sz="1400"/>
            </a:br>
            <a:r>
              <a:rPr sz="1400"/>
              <a:t>Also useful for ASHA workers, CSC operators and hospital help desks.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443984" y="1699610"/>
            <a:ext cx="3337560" cy="1645920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rPr sz="1400"/>
              <a:t>BENEFITS FOR PEOPLE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400"/>
              <a:t>• Know what PM-JAY can cover</a:t>
            </a:r>
            <a:br>
              <a:rPr sz="1400"/>
            </a:br>
            <a:r>
              <a:rPr sz="1400"/>
              <a:t>• Find the right hospital</a:t>
            </a:r>
            <a:br>
              <a:rPr sz="1400"/>
            </a:br>
            <a:r>
              <a:rPr sz="1400"/>
              <a:t>• Less reading and app use</a:t>
            </a:r>
            <a:br>
              <a:rPr sz="1400"/>
            </a:br>
            <a:r>
              <a:rPr sz="1400"/>
              <a:t>• Get help when a problem happens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973568" y="1699610"/>
            <a:ext cx="3520440" cy="1645920"/>
          </a:xfrm>
          <a:prstGeom prst="roundRect">
            <a:avLst/>
          </a:prstGeom>
          <a:solidFill>
            <a:srgbClr val="FCF0DE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700"/>
              </a:spcAft>
              <a:defRPr sz="1500" b="1">
                <a:solidFill>
                  <a:srgbClr val="1E5896"/>
                </a:solidFill>
              </a:defRPr>
            </a:pPr>
            <a:r>
              <a:rPr sz="1400"/>
              <a:t>BENEFITS FOR THE SYSTEM</a:t>
            </a:r>
          </a:p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rPr sz="1400"/>
              <a:t>• Fewer people drop out</a:t>
            </a:r>
            <a:br>
              <a:rPr sz="1400"/>
            </a:br>
            <a:r>
              <a:rPr sz="1400"/>
              <a:t>• See where users face problems</a:t>
            </a:r>
            <a:br>
              <a:rPr sz="1400"/>
            </a:br>
            <a:r>
              <a:rPr sz="1400"/>
              <a:t>• Better feedback from villages</a:t>
            </a:r>
            <a:br>
              <a:rPr sz="1400"/>
            </a:br>
            <a:r>
              <a:rPr sz="1400"/>
              <a:t>• Can be reused in other districts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0080" y="3665570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500" b="1">
                <a:solidFill>
                  <a:srgbClr val="1E5896"/>
                </a:solidFill>
              </a:defRPr>
            </a:pPr>
            <a:r>
              <a:t>WHAT WE WILL MEASURE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58368" y="4095337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0"/>
              </a:spcAft>
              <a:defRPr sz="1200">
                <a:solidFill>
                  <a:srgbClr val="282828"/>
                </a:solidFill>
              </a:defRPr>
            </a:pPr>
            <a:r>
              <a:rPr sz="1400"/>
              <a:t>1. Time to find a suitable hospital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889504" y="4095337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0"/>
              </a:spcAft>
              <a:defRPr sz="1200">
                <a:solidFill>
                  <a:srgbClr val="282828"/>
                </a:solidFill>
              </a:defRPr>
            </a:pPr>
            <a:r>
              <a:rPr sz="1400"/>
              <a:t>2. % who finish the steps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120640" y="4095337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0"/>
              </a:spcAft>
              <a:defRPr sz="1200">
                <a:solidFill>
                  <a:srgbClr val="282828"/>
                </a:solidFill>
              </a:defRPr>
            </a:pPr>
            <a:r>
              <a:rPr sz="1400"/>
              <a:t>3. People who leave before finishing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342631" y="4095337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0"/>
              </a:spcAft>
              <a:defRPr sz="1200">
                <a:solidFill>
                  <a:srgbClr val="282828"/>
                </a:solidFill>
              </a:defRPr>
            </a:pPr>
            <a:r>
              <a:rPr sz="1400"/>
              <a:t>4. % problems solved without another visit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564624" y="4095337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>
              <a:spcAft>
                <a:spcPts val="0"/>
              </a:spcAft>
              <a:defRPr sz="1200">
                <a:solidFill>
                  <a:srgbClr val="282828"/>
                </a:solidFill>
              </a:defRPr>
            </a:pPr>
            <a:r>
              <a:rPr sz="1400"/>
              <a:t>5. How well users understand their benefits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36522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tx2">
                    <a:lumMod val="75000"/>
                  </a:schemeClr>
                </a:solidFill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 descr="QualCampus">
            <a:extLst>
              <a:ext uri="{FF2B5EF4-FFF2-40B4-BE49-F238E27FC236}">
                <a16:creationId xmlns:a16="http://schemas.microsoft.com/office/drawing/2014/main" id="{EC7AF68F-5A95-88A8-BDCE-321ADC0D1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72" y="232568"/>
            <a:ext cx="1706028" cy="618943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325880"/>
            <a:ext cx="11155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just">
              <a:spcAft>
                <a:spcPts val="700"/>
              </a:spcAft>
              <a:defRPr sz="1300" b="1">
                <a:solidFill>
                  <a:srgbClr val="1E5896"/>
                </a:solidFill>
              </a:defRPr>
            </a:pPr>
            <a:r>
              <a:rPr sz="1600"/>
              <a:t>1. National Health Authority (NHA) – PM-JAY Operation Manual</a:t>
            </a:r>
          </a:p>
          <a:p>
            <a:pPr algn="just">
              <a:spcAft>
                <a:spcPts val="0"/>
              </a:spcAft>
              <a:defRPr sz="1100">
                <a:solidFill>
                  <a:srgbClr val="282828"/>
                </a:solidFill>
              </a:defRPr>
            </a:pPr>
            <a:r>
              <a:rPr sz="1400"/>
              <a:t>Official information about beneficiary support, helpline and claim process.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2212848"/>
            <a:ext cx="11155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just">
              <a:spcAft>
                <a:spcPts val="700"/>
              </a:spcAft>
              <a:defRPr sz="1300" b="1">
                <a:solidFill>
                  <a:srgbClr val="1E5896"/>
                </a:solidFill>
              </a:defRPr>
            </a:pPr>
            <a:r>
              <a:rPr sz="1600"/>
              <a:t>2. National Health Authority – PM-JAY portal</a:t>
            </a:r>
          </a:p>
          <a:p>
            <a:pPr algn="just">
              <a:spcAft>
                <a:spcPts val="0"/>
              </a:spcAft>
              <a:defRPr sz="1100">
                <a:solidFill>
                  <a:srgbClr val="282828"/>
                </a:solidFill>
              </a:defRPr>
            </a:pPr>
            <a:r>
              <a:rPr sz="1400"/>
              <a:t>Official PM-JAY programme and hospital information.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3099816"/>
            <a:ext cx="11155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just">
              <a:spcAft>
                <a:spcPts val="700"/>
              </a:spcAft>
              <a:defRPr sz="1300" b="1">
                <a:solidFill>
                  <a:srgbClr val="1E5896"/>
                </a:solidFill>
              </a:defRPr>
            </a:pPr>
            <a:r>
              <a:rPr sz="1600"/>
              <a:t>3. NITI Aayog – Aspirational Districts Programme</a:t>
            </a:r>
          </a:p>
          <a:p>
            <a:pPr algn="just">
              <a:spcAft>
                <a:spcPts val="0"/>
              </a:spcAft>
              <a:defRPr sz="1100">
                <a:solidFill>
                  <a:srgbClr val="282828"/>
                </a:solidFill>
              </a:defRPr>
            </a:pPr>
            <a:r>
              <a:rPr sz="1400"/>
              <a:t>Background on the aspirational districts and their focus areas.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3986784"/>
            <a:ext cx="11155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just">
              <a:spcAft>
                <a:spcPts val="700"/>
              </a:spcAft>
              <a:defRPr sz="1300" b="1">
                <a:solidFill>
                  <a:srgbClr val="1E5896"/>
                </a:solidFill>
              </a:defRPr>
            </a:pPr>
            <a:r>
              <a:rPr sz="1600"/>
              <a:t>4. NITI Aayog – Stories of Change</a:t>
            </a:r>
          </a:p>
          <a:p>
            <a:pPr algn="just">
              <a:spcAft>
                <a:spcPts val="0"/>
              </a:spcAft>
              <a:defRPr sz="1100">
                <a:solidFill>
                  <a:srgbClr val="282828"/>
                </a:solidFill>
              </a:defRPr>
            </a:pPr>
            <a:r>
              <a:rPr sz="1400"/>
              <a:t>Examples of local outreach and challenges in aspirational districts.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4873752"/>
            <a:ext cx="11155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just">
              <a:spcAft>
                <a:spcPts val="700"/>
              </a:spcAft>
              <a:defRPr sz="1300" b="1">
                <a:solidFill>
                  <a:srgbClr val="1E5896"/>
                </a:solidFill>
              </a:defRPr>
            </a:pPr>
            <a:r>
              <a:rPr sz="1600"/>
              <a:t>5. Primary research – Team Google Form</a:t>
            </a:r>
          </a:p>
          <a:p>
            <a:pPr algn="just">
              <a:spcAft>
                <a:spcPts val="0"/>
              </a:spcAft>
              <a:defRPr sz="1100">
                <a:solidFill>
                  <a:srgbClr val="282828"/>
                </a:solidFill>
              </a:defRPr>
            </a:pPr>
            <a:r>
              <a:rPr sz="1400"/>
              <a:t>15-question survey. Add response count and charts after collecting responses.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7508</TotalTime>
  <Words>772</Words>
  <Application>Microsoft Office PowerPoint</Application>
  <PresentationFormat>Widescreen</PresentationFormat>
  <Paragraphs>89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ＭＳ Ｐゴシック</vt:lpstr>
      <vt:lpstr>Arial</vt:lpstr>
      <vt:lpstr>Calibri</vt:lpstr>
      <vt:lpstr>TradeGothic</vt:lpstr>
      <vt:lpstr>Office Theme</vt:lpstr>
      <vt:lpstr>PowerPoint Presentation</vt:lpstr>
      <vt:lpstr>PM-JAY CLAIM GPS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Sneha Sagale</cp:lastModifiedBy>
  <cp:revision>155</cp:revision>
  <dcterms:created xsi:type="dcterms:W3CDTF">2013-12-12T18:46:50Z</dcterms:created>
  <dcterms:modified xsi:type="dcterms:W3CDTF">2026-09-11T14:58:01Z</dcterms:modified>
  <cp:category/>
</cp:coreProperties>
</file>
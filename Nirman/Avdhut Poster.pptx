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10688638" cy="151241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ioK8NBJgx99EHxAZpjcB/LAPDS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20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100255" cy="64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2745366" y="0"/>
            <a:ext cx="2100255" cy="64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12813" y="1617663"/>
            <a:ext cx="3021012" cy="4365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484674" y="6226651"/>
            <a:ext cx="3877394" cy="509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2289326"/>
            <a:ext cx="2100255" cy="649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2745366" y="12289326"/>
            <a:ext cx="2100255" cy="649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09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2813" y="1617663"/>
            <a:ext cx="3021012" cy="4365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484674" y="6226651"/>
            <a:ext cx="3877394" cy="509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2745366" y="12289326"/>
            <a:ext cx="2100255" cy="649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898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 txBox="1"/>
          <p:nvPr/>
        </p:nvSpPr>
        <p:spPr>
          <a:xfrm>
            <a:off x="418125" y="578310"/>
            <a:ext cx="6029778" cy="23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2600"/>
            </a:pPr>
            <a:r>
              <a:rPr sz="962" b="1">
                <a:solidFill>
                  <a:srgbClr val="FFFFFF"/>
                </a:solidFill>
                <a:latin typeface="Calibri"/>
              </a:rPr>
              <a:t>Department of Computer Engineering</a:t>
            </a:r>
            <a:endParaRPr sz="1476" b="1">
              <a:solidFill>
                <a:srgbClr val="D9D2E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1301901" y="889581"/>
            <a:ext cx="4042373" cy="253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28C28"/>
              </a:buClr>
              <a:buSzPts val="1500"/>
            </a:pPr>
            <a:r>
              <a:rPr sz="1347" b="1">
                <a:solidFill>
                  <a:srgbClr val="148984"/>
                </a:solidFill>
                <a:latin typeface="Calibri"/>
              </a:rPr>
              <a:t>NIRMAN LAB EXHIBITION 2026</a:t>
            </a:r>
            <a:endParaRPr sz="141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156480" y="1117737"/>
            <a:ext cx="6581824" cy="609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4158"/>
            </a:pPr>
            <a:r>
              <a:rPr sz="2181" b="1">
                <a:solidFill>
                  <a:srgbClr val="FFFFFF"/>
                </a:solidFill>
                <a:latin typeface="Cambria"/>
              </a:rPr>
              <a:t>PM-JAY CLAIM GPS</a:t>
            </a:r>
            <a:endParaRPr sz="200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43785" y="1787210"/>
            <a:ext cx="1485020" cy="670809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2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79206" dist="26402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60970" tIns="60970" rIns="60970" bIns="60970" anchor="ctr" anchorCtr="0">
            <a:noAutofit/>
          </a:bodyPr>
          <a:lstStyle/>
          <a:p>
            <a:endParaRPr sz="583"/>
          </a:p>
        </p:txBody>
      </p:sp>
      <p:sp>
        <p:nvSpPr>
          <p:cNvPr id="20" name="Google Shape;20;p1"/>
          <p:cNvSpPr txBox="1"/>
          <p:nvPr/>
        </p:nvSpPr>
        <p:spPr>
          <a:xfrm>
            <a:off x="176624" y="1955865"/>
            <a:ext cx="1515496" cy="30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13243A"/>
              </a:buClr>
              <a:buSzPts val="1663"/>
            </a:pPr>
            <a:r>
              <a:rPr sz="962" b="1" dirty="0">
                <a:solidFill>
                  <a:srgbClr val="14304B"/>
                </a:solidFill>
                <a:latin typeface="Calibri"/>
              </a:rPr>
              <a:t>AVDHUT PARISH MADHAVI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781192" y="1787210"/>
            <a:ext cx="1485020" cy="670809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2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79206" dist="26402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60970" tIns="60970" rIns="60970" bIns="60970" anchor="ctr" anchorCtr="0">
            <a:noAutofit/>
          </a:bodyPr>
          <a:lstStyle/>
          <a:p>
            <a:endParaRPr sz="583"/>
          </a:p>
        </p:txBody>
      </p:sp>
      <p:sp>
        <p:nvSpPr>
          <p:cNvPr id="22" name="Google Shape;22;p1"/>
          <p:cNvSpPr txBox="1"/>
          <p:nvPr/>
        </p:nvSpPr>
        <p:spPr>
          <a:xfrm>
            <a:off x="2069348" y="1971977"/>
            <a:ext cx="1516964" cy="30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13243A"/>
              </a:buClr>
              <a:buSzPts val="1663"/>
            </a:pPr>
            <a:r>
              <a:rPr sz="583" b="1" dirty="0">
                <a:solidFill>
                  <a:srgbClr val="14304B"/>
                </a:solidFill>
                <a:latin typeface="Calibri"/>
              </a:rPr>
              <a:t>SEM III  •  DIV C2  •  TU3S2627005</a:t>
            </a:r>
            <a:endParaRPr sz="1796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3510085" y="1770320"/>
            <a:ext cx="1485020" cy="670809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2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79206" dist="26402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60970" tIns="60970" rIns="60970" bIns="60970" anchor="ctr" anchorCtr="0">
            <a:noAutofit/>
          </a:bodyPr>
          <a:lstStyle/>
          <a:p>
            <a:endParaRPr sz="583"/>
          </a:p>
        </p:txBody>
      </p:sp>
      <p:sp>
        <p:nvSpPr>
          <p:cNvPr id="24" name="Google Shape;24;p1"/>
          <p:cNvSpPr txBox="1"/>
          <p:nvPr/>
        </p:nvSpPr>
        <p:spPr>
          <a:xfrm>
            <a:off x="3670137" y="1936078"/>
            <a:ext cx="1241142" cy="30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13243A"/>
              </a:buClr>
              <a:buSzPts val="1663"/>
            </a:pPr>
            <a:r>
              <a:rPr lang="en-IN" sz="1027" dirty="0"/>
              <a:t>Arogya Pranali: </a:t>
            </a:r>
            <a:r>
              <a:rPr lang="en-IN" sz="962" b="1" dirty="0">
                <a:solidFill>
                  <a:srgbClr val="14304B"/>
                </a:solidFill>
                <a:latin typeface="Calibri"/>
              </a:rPr>
              <a:t>Intelligent</a:t>
            </a:r>
            <a:r>
              <a:rPr lang="en-IN" sz="1027" dirty="0"/>
              <a:t> Health Systems for Bharat</a:t>
            </a:r>
            <a:endParaRPr lang="en-IN" sz="1796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147492" y="1770320"/>
            <a:ext cx="1485020" cy="670809"/>
          </a:xfrm>
          <a:prstGeom prst="roundRect">
            <a:avLst>
              <a:gd name="adj" fmla="val 9091"/>
            </a:avLst>
          </a:prstGeom>
          <a:solidFill>
            <a:srgbClr val="F28C28"/>
          </a:solidFill>
          <a:ln w="13200" cap="flat" cmpd="sng">
            <a:solidFill>
              <a:srgbClr val="F28C28"/>
            </a:solidFill>
            <a:prstDash val="solid"/>
            <a:round/>
            <a:headEnd type="none" w="sm" len="sm"/>
            <a:tailEnd type="none" w="sm" len="sm"/>
          </a:ln>
          <a:effectLst>
            <a:outerShdw blurRad="79206" dist="26402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60970" tIns="60970" rIns="60970" bIns="60970" anchor="ctr" anchorCtr="0">
            <a:noAutofit/>
          </a:bodyPr>
          <a:lstStyle/>
          <a:p>
            <a:endParaRPr sz="583"/>
          </a:p>
        </p:txBody>
      </p:sp>
      <p:sp>
        <p:nvSpPr>
          <p:cNvPr id="26" name="Google Shape;26;p1"/>
          <p:cNvSpPr txBox="1"/>
          <p:nvPr/>
        </p:nvSpPr>
        <p:spPr>
          <a:xfrm>
            <a:off x="5238970" y="1744532"/>
            <a:ext cx="384970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FFFFFF"/>
              </a:buClr>
              <a:buSzPts val="3118"/>
            </a:pPr>
            <a:r>
              <a:rPr sz="2181" b="1">
                <a:solidFill>
                  <a:srgbClr val="FFFFFF"/>
                </a:solidFill>
                <a:latin typeface="Calibri"/>
              </a:rPr>
              <a:t>3</a:t>
            </a:r>
            <a:endParaRPr sz="21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 txBox="1"/>
          <p:nvPr/>
        </p:nvSpPr>
        <p:spPr>
          <a:xfrm>
            <a:off x="5757327" y="1831304"/>
            <a:ext cx="814018" cy="548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FFFFFF"/>
              </a:buClr>
              <a:buSzPts val="1039"/>
            </a:pPr>
            <a:r>
              <a:rPr sz="674" b="1">
                <a:solidFill>
                  <a:srgbClr val="14304B"/>
                </a:solidFill>
                <a:latin typeface="Calibri"/>
              </a:rPr>
              <a:t>UN SDG GOAL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128"/>
              </a:spcAft>
            </a:pPr>
            <a:r>
              <a:rPr sz="674" b="1">
                <a:solidFill>
                  <a:srgbClr val="14304B"/>
                </a:solidFill>
                <a:latin typeface="Calibri"/>
              </a:rPr>
              <a:t>GOOD HEALTH &amp; WELL-BEING</a:t>
            </a:r>
          </a:p>
        </p:txBody>
      </p:sp>
      <p:sp>
        <p:nvSpPr>
          <p:cNvPr id="28" name="Google Shape;28;p1"/>
          <p:cNvSpPr/>
          <p:nvPr/>
        </p:nvSpPr>
        <p:spPr>
          <a:xfrm>
            <a:off x="170429" y="2710324"/>
            <a:ext cx="3156173" cy="120264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29" name="Google Shape;29;p1"/>
          <p:cNvSpPr/>
          <p:nvPr/>
        </p:nvSpPr>
        <p:spPr>
          <a:xfrm>
            <a:off x="326057" y="2839397"/>
            <a:ext cx="342430" cy="322604"/>
          </a:xfrm>
          <a:prstGeom prst="ellipse">
            <a:avLst/>
          </a:prstGeom>
          <a:solidFill>
            <a:srgbClr val="F28C28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30" name="Google Shape;30;p1"/>
          <p:cNvSpPr txBox="1"/>
          <p:nvPr/>
        </p:nvSpPr>
        <p:spPr>
          <a:xfrm>
            <a:off x="326057" y="2839397"/>
            <a:ext cx="342430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01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761816" y="2839397"/>
            <a:ext cx="2409139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1155" b="1">
                <a:solidFill>
                  <a:srgbClr val="14304B"/>
                </a:solidFill>
                <a:latin typeface="Cambria"/>
              </a:rPr>
              <a:t>Problem Statement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 txBox="1"/>
          <p:nvPr/>
        </p:nvSpPr>
        <p:spPr>
          <a:xfrm>
            <a:off x="357183" y="3267684"/>
            <a:ext cx="2782752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4A5568"/>
              </a:buClr>
              <a:buSzPts val="1400"/>
            </a:pPr>
            <a:r>
              <a:rPr sz="770">
                <a:solidFill>
                  <a:srgbClr val="263441"/>
                </a:solidFill>
                <a:latin typeface="Calibri"/>
              </a:rPr>
              <a:t>People may not know what PM-JAY covers, whether they are eligible, which hospitals to approach, or what to do next. Language, literacy and weak internet can make access harder.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170429" y="4109095"/>
            <a:ext cx="3156173" cy="120264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34" name="Google Shape;34;p1"/>
          <p:cNvSpPr/>
          <p:nvPr/>
        </p:nvSpPr>
        <p:spPr>
          <a:xfrm>
            <a:off x="326057" y="4238168"/>
            <a:ext cx="342430" cy="322604"/>
          </a:xfrm>
          <a:prstGeom prst="ellipse">
            <a:avLst/>
          </a:prstGeom>
          <a:solidFill>
            <a:srgbClr val="14898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35" name="Google Shape;35;p1"/>
          <p:cNvSpPr txBox="1"/>
          <p:nvPr/>
        </p:nvSpPr>
        <p:spPr>
          <a:xfrm>
            <a:off x="326057" y="4238168"/>
            <a:ext cx="342430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02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 txBox="1"/>
          <p:nvPr/>
        </p:nvSpPr>
        <p:spPr>
          <a:xfrm>
            <a:off x="761816" y="4238168"/>
            <a:ext cx="2409139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1155" b="1">
                <a:solidFill>
                  <a:srgbClr val="14304B"/>
                </a:solidFill>
                <a:latin typeface="Cambria"/>
              </a:rPr>
              <a:t>Objectives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 txBox="1"/>
          <p:nvPr/>
        </p:nvSpPr>
        <p:spPr>
          <a:xfrm>
            <a:off x="357183" y="4666454"/>
            <a:ext cx="2782752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11734" rIns="23468" bIns="11734" anchor="ctr" anchorCtr="0">
            <a:noAutofit/>
          </a:bodyPr>
          <a:lstStyle/>
          <a:p>
            <a:pPr marL="220005" indent="-220005">
              <a:spcAft>
                <a:spcPts val="64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sz="719">
                <a:solidFill>
                  <a:srgbClr val="263441"/>
                </a:solidFill>
                <a:latin typeface="Calibri"/>
              </a:rPr>
              <a:t>Make PM-JAY guidance clearer; help users find relevant hospitals; explain documents and next steps.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170429" y="5507865"/>
            <a:ext cx="3156173" cy="120264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39" name="Google Shape;39;p1"/>
          <p:cNvSpPr/>
          <p:nvPr/>
        </p:nvSpPr>
        <p:spPr>
          <a:xfrm>
            <a:off x="326057" y="5636938"/>
            <a:ext cx="342430" cy="322604"/>
          </a:xfrm>
          <a:prstGeom prst="ellipse">
            <a:avLst/>
          </a:prstGeom>
          <a:solidFill>
            <a:srgbClr val="14898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40" name="Google Shape;40;p1"/>
          <p:cNvSpPr txBox="1"/>
          <p:nvPr/>
        </p:nvSpPr>
        <p:spPr>
          <a:xfrm>
            <a:off x="326057" y="5636938"/>
            <a:ext cx="342430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03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1"/>
          <p:cNvSpPr txBox="1"/>
          <p:nvPr/>
        </p:nvSpPr>
        <p:spPr>
          <a:xfrm>
            <a:off x="761816" y="5636938"/>
            <a:ext cx="2409139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1091" b="1">
                <a:solidFill>
                  <a:srgbClr val="14304B"/>
                </a:solidFill>
                <a:latin typeface="Cambria"/>
              </a:rPr>
              <a:t>Design Thinking Journey</a:t>
            </a:r>
            <a:endParaRPr sz="1155" b="1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357183" y="6065225"/>
            <a:ext cx="2782752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4A5568"/>
              </a:buClr>
              <a:buSzPts val="1400"/>
            </a:pPr>
            <a:r>
              <a:rPr sz="654">
                <a:solidFill>
                  <a:srgbClr val="263441"/>
                </a:solidFill>
                <a:latin typeface="Calibri"/>
              </a:rPr>
              <a:t>EMPATHISE — Questionnaire with 23 respondents</a:t>
            </a:r>
            <a:endParaRPr sz="583"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128"/>
              </a:spcAft>
            </a:pPr>
            <a:r>
              <a:rPr sz="654">
                <a:solidFill>
                  <a:srgbClr val="263441"/>
                </a:solidFill>
                <a:latin typeface="Calibri"/>
              </a:rPr>
              <a:t>DEFINE — Awareness and navigation gaps</a:t>
            </a:r>
          </a:p>
          <a:p>
            <a:pPr>
              <a:spcAft>
                <a:spcPts val="128"/>
              </a:spcAft>
            </a:pPr>
            <a:r>
              <a:rPr sz="654">
                <a:solidFill>
                  <a:srgbClr val="263441"/>
                </a:solidFill>
                <a:latin typeface="Calibri"/>
              </a:rPr>
              <a:t>IDEATE — Compared awareness, print and digital solutions</a:t>
            </a:r>
          </a:p>
          <a:p>
            <a:pPr>
              <a:spcAft>
                <a:spcPts val="128"/>
              </a:spcAft>
            </a:pPr>
            <a:r>
              <a:rPr sz="654">
                <a:solidFill>
                  <a:srgbClr val="263441"/>
                </a:solidFill>
                <a:latin typeface="Calibri"/>
              </a:rPr>
              <a:t>PROTOTYPE — Need-first website workflow</a:t>
            </a:r>
          </a:p>
        </p:txBody>
      </p:sp>
      <p:sp>
        <p:nvSpPr>
          <p:cNvPr id="43" name="Google Shape;43;p1"/>
          <p:cNvSpPr/>
          <p:nvPr/>
        </p:nvSpPr>
        <p:spPr>
          <a:xfrm>
            <a:off x="170317" y="8228125"/>
            <a:ext cx="3156173" cy="1411876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44" name="Google Shape;44;p1"/>
          <p:cNvSpPr/>
          <p:nvPr/>
        </p:nvSpPr>
        <p:spPr>
          <a:xfrm>
            <a:off x="275857" y="8390631"/>
            <a:ext cx="342238" cy="322604"/>
          </a:xfrm>
          <a:prstGeom prst="ellipse">
            <a:avLst/>
          </a:prstGeom>
          <a:solidFill>
            <a:srgbClr val="F28C28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45" name="Google Shape;45;p1"/>
          <p:cNvSpPr txBox="1"/>
          <p:nvPr/>
        </p:nvSpPr>
        <p:spPr>
          <a:xfrm>
            <a:off x="275857" y="8390631"/>
            <a:ext cx="342238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05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/>
          <p:nvPr/>
        </p:nvSpPr>
        <p:spPr>
          <a:xfrm>
            <a:off x="711631" y="8390631"/>
            <a:ext cx="2409332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1091" b="1">
                <a:solidFill>
                  <a:srgbClr val="14304B"/>
                </a:solidFill>
                <a:latin typeface="Cambria"/>
              </a:rPr>
              <a:t>Ideation &amp; Solution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3531903" y="2710324"/>
            <a:ext cx="3156173" cy="2746373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48" name="Google Shape;48;p1"/>
          <p:cNvSpPr/>
          <p:nvPr/>
        </p:nvSpPr>
        <p:spPr>
          <a:xfrm>
            <a:off x="3678569" y="2839401"/>
            <a:ext cx="322604" cy="322604"/>
          </a:xfrm>
          <a:prstGeom prst="ellipse">
            <a:avLst/>
          </a:prstGeom>
          <a:solidFill>
            <a:srgbClr val="14898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49" name="Google Shape;49;p1"/>
          <p:cNvSpPr txBox="1"/>
          <p:nvPr/>
        </p:nvSpPr>
        <p:spPr>
          <a:xfrm>
            <a:off x="3678569" y="2839401"/>
            <a:ext cx="322604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06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"/>
          <p:cNvSpPr txBox="1"/>
          <p:nvPr/>
        </p:nvSpPr>
        <p:spPr>
          <a:xfrm>
            <a:off x="4089254" y="2839401"/>
            <a:ext cx="2270550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B1F3A"/>
              </a:buClr>
              <a:buSzPts val="1800"/>
            </a:pPr>
            <a:r>
              <a:rPr lang="en-US" sz="1155" b="1">
                <a:solidFill>
                  <a:srgbClr val="0B1F3A"/>
                </a:solidFill>
                <a:latin typeface="Cambria"/>
                <a:ea typeface="Cambria"/>
                <a:cs typeface="Cambria"/>
                <a:sym typeface="Cambria"/>
              </a:rPr>
              <a:t>Prototype / Circuit/ Photos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/>
          <p:cNvSpPr/>
          <p:nvPr/>
        </p:nvSpPr>
        <p:spPr>
          <a:xfrm>
            <a:off x="3678569" y="3267687"/>
            <a:ext cx="1281949" cy="1085422"/>
          </a:xfrm>
          <a:prstGeom prst="roundRect">
            <a:avLst>
              <a:gd name="adj" fmla="val 4324"/>
            </a:avLst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 cap="flat" cmpd="sng">
            <a:solidFill>
              <a:srgbClr val="CDDCE6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7601" tIns="17601" rIns="17601" bIns="17601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4A5568"/>
              </a:buClr>
              <a:buSzPts val="1200"/>
            </a:pPr>
            <a:endParaRPr sz="77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"/>
          <p:cNvSpPr/>
          <p:nvPr/>
        </p:nvSpPr>
        <p:spPr>
          <a:xfrm>
            <a:off x="5077833" y="3267687"/>
            <a:ext cx="1281949" cy="1085422"/>
          </a:xfrm>
          <a:prstGeom prst="roundRect">
            <a:avLst>
              <a:gd name="adj" fmla="val 4324"/>
            </a:avLst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 cap="flat" cmpd="sng">
            <a:solidFill>
              <a:srgbClr val="CDDCE6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7601" tIns="17601" rIns="17601" bIns="17601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4A5568"/>
              </a:buClr>
              <a:buSzPts val="1200"/>
            </a:pPr>
            <a:endParaRPr sz="77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531904" y="5647561"/>
            <a:ext cx="3156173" cy="120264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54" name="Google Shape;54;p1"/>
          <p:cNvSpPr/>
          <p:nvPr/>
        </p:nvSpPr>
        <p:spPr>
          <a:xfrm>
            <a:off x="3687537" y="5721052"/>
            <a:ext cx="342238" cy="322604"/>
          </a:xfrm>
          <a:prstGeom prst="ellipse">
            <a:avLst/>
          </a:prstGeom>
          <a:solidFill>
            <a:srgbClr val="14898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55" name="Google Shape;55;p1"/>
          <p:cNvSpPr txBox="1"/>
          <p:nvPr/>
        </p:nvSpPr>
        <p:spPr>
          <a:xfrm>
            <a:off x="3687537" y="5721052"/>
            <a:ext cx="342238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07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"/>
          <p:cNvSpPr txBox="1"/>
          <p:nvPr/>
        </p:nvSpPr>
        <p:spPr>
          <a:xfrm>
            <a:off x="4123316" y="5721046"/>
            <a:ext cx="2502687" cy="361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962" b="1">
                <a:solidFill>
                  <a:srgbClr val="14304B"/>
                </a:solidFill>
                <a:latin typeface="Cambria"/>
              </a:rPr>
              <a:t>Results, Observations &amp; Failure Log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3718663" y="6129495"/>
            <a:ext cx="2782752" cy="346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11734" rIns="23468" bIns="11734" anchor="ctr" anchorCtr="0">
            <a:noAutofit/>
          </a:bodyPr>
          <a:lstStyle/>
          <a:p>
            <a:pPr>
              <a:spcAft>
                <a:spcPts val="64"/>
              </a:spcAft>
              <a:buClr>
                <a:srgbClr val="4A5568"/>
              </a:buClr>
              <a:buSzPts val="1400"/>
            </a:pPr>
            <a:r>
              <a:rPr sz="590">
                <a:solidFill>
                  <a:srgbClr val="263441"/>
                </a:solidFill>
                <a:latin typeface="Calibri"/>
              </a:rPr>
              <a:t>Survey of 23 respondents: 65% did not know eligibility; 70% did not know benefits.</a:t>
            </a:r>
            <a:endParaRPr sz="898"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64"/>
              </a:spcAft>
            </a:pPr>
            <a:r>
              <a:rPr sz="590">
                <a:solidFill>
                  <a:srgbClr val="263441"/>
                </a:solidFill>
                <a:latin typeface="Calibri"/>
              </a:rPr>
              <a:t>74% wished to apply; 65% did not know nearby PM-JAY hospitals.</a:t>
            </a:r>
          </a:p>
          <a:p>
            <a:pPr>
              <a:spcAft>
                <a:spcPts val="64"/>
              </a:spcAft>
            </a:pPr>
            <a:r>
              <a:rPr sz="590">
                <a:solidFill>
                  <a:srgbClr val="263441"/>
                </a:solidFill>
                <a:latin typeface="Calibri"/>
              </a:rPr>
              <a:t>Finding: strong interest, but practical awareness gaps.</a:t>
            </a:r>
          </a:p>
        </p:txBody>
      </p:sp>
      <p:sp>
        <p:nvSpPr>
          <p:cNvPr id="58" name="Google Shape;58;p1"/>
          <p:cNvSpPr/>
          <p:nvPr/>
        </p:nvSpPr>
        <p:spPr>
          <a:xfrm>
            <a:off x="3531904" y="7026290"/>
            <a:ext cx="3156173" cy="120264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59" name="Google Shape;59;p1"/>
          <p:cNvSpPr/>
          <p:nvPr/>
        </p:nvSpPr>
        <p:spPr>
          <a:xfrm>
            <a:off x="3687534" y="7143012"/>
            <a:ext cx="342430" cy="322604"/>
          </a:xfrm>
          <a:prstGeom prst="ellipse">
            <a:avLst/>
          </a:prstGeom>
          <a:solidFill>
            <a:srgbClr val="14898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60" name="Google Shape;60;p1"/>
          <p:cNvSpPr txBox="1"/>
          <p:nvPr/>
        </p:nvSpPr>
        <p:spPr>
          <a:xfrm>
            <a:off x="3687534" y="7143012"/>
            <a:ext cx="342430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08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"/>
          <p:cNvSpPr txBox="1"/>
          <p:nvPr/>
        </p:nvSpPr>
        <p:spPr>
          <a:xfrm>
            <a:off x="4123297" y="7143012"/>
            <a:ext cx="2409139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1091" b="1">
                <a:solidFill>
                  <a:srgbClr val="14304B"/>
                </a:solidFill>
                <a:latin typeface="Cambria"/>
              </a:rPr>
              <a:t>Impact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"/>
          <p:cNvSpPr txBox="1"/>
          <p:nvPr/>
        </p:nvSpPr>
        <p:spPr>
          <a:xfrm>
            <a:off x="3718660" y="7571299"/>
            <a:ext cx="2782752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4A5568"/>
              </a:buClr>
              <a:buSzPts val="1400"/>
            </a:pPr>
            <a:r>
              <a:rPr sz="654">
                <a:solidFill>
                  <a:srgbClr val="263441"/>
                </a:solidFill>
                <a:latin typeface="Calibri"/>
              </a:rPr>
              <a:t>SDG 3: supports navigation to healthcare information.</a:t>
            </a:r>
            <a:endParaRPr sz="898"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128"/>
              </a:spcAft>
            </a:pPr>
            <a:r>
              <a:rPr sz="654">
                <a:solidFill>
                  <a:srgbClr val="263441"/>
                </a:solidFill>
                <a:latin typeface="Calibri"/>
              </a:rPr>
              <a:t>User value: clearer next steps, easier discovery and less confusion.</a:t>
            </a:r>
          </a:p>
          <a:p>
            <a:pPr>
              <a:spcAft>
                <a:spcPts val="128"/>
              </a:spcAft>
            </a:pPr>
            <a:r>
              <a:rPr sz="654">
                <a:solidFill>
                  <a:srgbClr val="263441"/>
                </a:solidFill>
                <a:latin typeface="Calibri"/>
              </a:rPr>
              <a:t>Potential to save time and unnecessary trips; actual impact needs testing.</a:t>
            </a:r>
          </a:p>
          <a:p>
            <a:pPr>
              <a:spcAft>
                <a:spcPts val="128"/>
              </a:spcAft>
            </a:pPr>
            <a:r>
              <a:rPr sz="654">
                <a:solidFill>
                  <a:srgbClr val="263441"/>
                </a:solidFill>
                <a:latin typeface="Calibri"/>
              </a:rPr>
              <a:t>Scale-up: verified hospital data, regional languages and low-connectivity support.</a:t>
            </a:r>
          </a:p>
        </p:txBody>
      </p:sp>
      <p:sp>
        <p:nvSpPr>
          <p:cNvPr id="63" name="Google Shape;63;p1"/>
          <p:cNvSpPr/>
          <p:nvPr/>
        </p:nvSpPr>
        <p:spPr>
          <a:xfrm>
            <a:off x="3531903" y="8384984"/>
            <a:ext cx="3156173" cy="1255001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64" name="Google Shape;64;p1"/>
          <p:cNvSpPr/>
          <p:nvPr/>
        </p:nvSpPr>
        <p:spPr>
          <a:xfrm>
            <a:off x="3687537" y="8514057"/>
            <a:ext cx="342238" cy="322604"/>
          </a:xfrm>
          <a:prstGeom prst="ellipse">
            <a:avLst/>
          </a:prstGeom>
          <a:solidFill>
            <a:srgbClr val="14898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65" name="Google Shape;65;p1"/>
          <p:cNvSpPr txBox="1"/>
          <p:nvPr/>
        </p:nvSpPr>
        <p:spPr>
          <a:xfrm>
            <a:off x="3687537" y="8514057"/>
            <a:ext cx="342238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09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"/>
          <p:cNvSpPr txBox="1"/>
          <p:nvPr/>
        </p:nvSpPr>
        <p:spPr>
          <a:xfrm>
            <a:off x="4123311" y="8514057"/>
            <a:ext cx="2409332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  <a:buClr>
                <a:srgbClr val="0B1F3A"/>
              </a:buClr>
              <a:buSzPts val="1800"/>
            </a:pPr>
            <a:r>
              <a:rPr sz="994" b="1">
                <a:solidFill>
                  <a:srgbClr val="14304B"/>
                </a:solidFill>
                <a:latin typeface="Cambria"/>
              </a:rPr>
              <a:t>Conclusion &amp; Future Scope</a:t>
            </a:r>
            <a:endParaRPr sz="115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"/>
          <p:cNvSpPr txBox="1"/>
          <p:nvPr/>
        </p:nvSpPr>
        <p:spPr>
          <a:xfrm>
            <a:off x="3718664" y="8942343"/>
            <a:ext cx="2782752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</a:pPr>
            <a:r>
              <a:rPr sz="648">
                <a:solidFill>
                  <a:srgbClr val="263441"/>
                </a:solidFill>
                <a:latin typeface="Calibri"/>
              </a:rPr>
              <a:t>PM-JAY Claim GPS turns a healthcare question into a guided next step. Next: test with users, verify hospital records, improve language/accessibility features, and explore authorised integrations.</a:t>
            </a:r>
            <a:endParaRPr sz="898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"/>
          <p:cNvSpPr txBox="1"/>
          <p:nvPr/>
        </p:nvSpPr>
        <p:spPr>
          <a:xfrm>
            <a:off x="1956751" y="9623382"/>
            <a:ext cx="3077254" cy="23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300"/>
            </a:pPr>
            <a:r>
              <a:rPr sz="674" b="1">
                <a:solidFill>
                  <a:srgbClr val="FFFFFF"/>
                </a:solidFill>
                <a:latin typeface="Calibri"/>
              </a:rPr>
              <a:t>Guide: Rohini Patil</a:t>
            </a:r>
            <a:endParaRPr sz="83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92504" y="144582"/>
            <a:ext cx="3721838" cy="525580"/>
          </a:xfrm>
          <a:prstGeom prst="rect">
            <a:avLst/>
          </a:prstGeom>
          <a:noFill/>
          <a:ln>
            <a:noFill/>
          </a:ln>
          <a:effectLst>
            <a:outerShdw blurRad="85725" dist="19050" dir="5400000" algn="bl" rotWithShape="0">
              <a:srgbClr val="000000">
                <a:alpha val="50000"/>
              </a:srgbClr>
            </a:outerShdw>
            <a:reflection stA="3000" dist="38100" dir="5400000" fadeDir="5400012" sy="-100000" algn="bl" rotWithShape="0"/>
          </a:effectLst>
        </p:spPr>
      </p:pic>
      <p:sp>
        <p:nvSpPr>
          <p:cNvPr id="70" name="Google Shape;70;p1"/>
          <p:cNvSpPr/>
          <p:nvPr/>
        </p:nvSpPr>
        <p:spPr>
          <a:xfrm>
            <a:off x="178043" y="6868000"/>
            <a:ext cx="3156173" cy="120264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 cap="flat" cmpd="sng">
            <a:solidFill>
              <a:srgbClr val="DAE6ED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30200"/>
              </a:srgbClr>
            </a:outerShdw>
          </a:effectLst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71" name="Google Shape;71;p1"/>
          <p:cNvSpPr/>
          <p:nvPr/>
        </p:nvSpPr>
        <p:spPr>
          <a:xfrm>
            <a:off x="333671" y="6966196"/>
            <a:ext cx="342430" cy="322604"/>
          </a:xfrm>
          <a:prstGeom prst="ellipse">
            <a:avLst/>
          </a:prstGeom>
          <a:solidFill>
            <a:srgbClr val="F28C28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660" tIns="58660" rIns="58660" bIns="58660" anchor="ctr" anchorCtr="0">
            <a:noAutofit/>
          </a:bodyPr>
          <a:lstStyle/>
          <a:p>
            <a:endParaRPr sz="583"/>
          </a:p>
        </p:txBody>
      </p:sp>
      <p:sp>
        <p:nvSpPr>
          <p:cNvPr id="72" name="Google Shape;72;p1"/>
          <p:cNvSpPr txBox="1"/>
          <p:nvPr/>
        </p:nvSpPr>
        <p:spPr>
          <a:xfrm>
            <a:off x="333671" y="6966196"/>
            <a:ext cx="342430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spcAft>
                <a:spcPts val="128"/>
              </a:spcAft>
              <a:buClr>
                <a:srgbClr val="FFFFFF"/>
              </a:buClr>
              <a:buSzPts val="1400"/>
            </a:pPr>
            <a:r>
              <a:rPr sz="930" b="1">
                <a:solidFill>
                  <a:srgbClr val="FFFFFF"/>
                </a:solidFill>
                <a:latin typeface="Calibri"/>
              </a:rPr>
              <a:t>04</a:t>
            </a:r>
            <a:endParaRPr sz="8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"/>
          <p:cNvSpPr txBox="1"/>
          <p:nvPr/>
        </p:nvSpPr>
        <p:spPr>
          <a:xfrm>
            <a:off x="769430" y="6966196"/>
            <a:ext cx="2409139" cy="322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</a:pPr>
            <a:r>
              <a:rPr sz="1091" b="1">
                <a:solidFill>
                  <a:srgbClr val="14304B"/>
                </a:solidFill>
                <a:latin typeface="Cambria"/>
              </a:rPr>
              <a:t>Research Evidence</a:t>
            </a:r>
            <a:endParaRPr sz="1155" b="1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4" name="Google Shape;74;p1"/>
          <p:cNvSpPr txBox="1"/>
          <p:nvPr/>
        </p:nvSpPr>
        <p:spPr>
          <a:xfrm>
            <a:off x="364797" y="7394483"/>
            <a:ext cx="2782752" cy="49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</a:pPr>
            <a:r>
              <a:rPr sz="648">
                <a:solidFill>
                  <a:srgbClr val="263441"/>
                </a:solidFill>
                <a:latin typeface="Calibri"/>
              </a:rPr>
              <a:t>Primary research: questionnaire (n=23).</a:t>
            </a:r>
            <a:endParaRPr sz="583"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128"/>
              </a:spcAft>
            </a:pPr>
            <a:r>
              <a:rPr sz="648">
                <a:solidFill>
                  <a:srgbClr val="263441"/>
                </a:solidFill>
                <a:latin typeface="Calibri"/>
              </a:rPr>
              <a:t>Key gap: interest in applying is higher than awareness of eligibility, benefits and nearby hospitals.</a:t>
            </a:r>
          </a:p>
          <a:p>
            <a:pPr>
              <a:spcAft>
                <a:spcPts val="128"/>
              </a:spcAft>
            </a:pPr>
            <a:r>
              <a:rPr sz="648">
                <a:solidFill>
                  <a:srgbClr val="263441"/>
                </a:solidFill>
                <a:latin typeface="Calibri"/>
              </a:rPr>
              <a:t>Reference basis: National Health Authority PM-JAY information and NITI Aayog programme context.</a:t>
            </a:r>
          </a:p>
          <a:p>
            <a:pPr>
              <a:spcAft>
                <a:spcPts val="128"/>
              </a:spcAft>
            </a:pPr>
            <a:r>
              <a:rPr sz="648">
                <a:solidFill>
                  <a:srgbClr val="263441"/>
                </a:solidFill>
                <a:latin typeface="Calibri"/>
              </a:rPr>
              <a:t>Evidence informs the design; effectiveness still needs validation.</a:t>
            </a:r>
          </a:p>
        </p:txBody>
      </p:sp>
      <p:sp>
        <p:nvSpPr>
          <p:cNvPr id="75" name="Google Shape;75;p1"/>
          <p:cNvSpPr txBox="1"/>
          <p:nvPr/>
        </p:nvSpPr>
        <p:spPr>
          <a:xfrm>
            <a:off x="264015" y="8772396"/>
            <a:ext cx="2782752" cy="305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68" tIns="23468" rIns="23468" bIns="23468" anchor="ctr" anchorCtr="0">
            <a:noAutofit/>
          </a:bodyPr>
          <a:lstStyle/>
          <a:p>
            <a:pPr>
              <a:spcAft>
                <a:spcPts val="128"/>
              </a:spcAft>
            </a:pPr>
            <a:r>
              <a:rPr sz="674">
                <a:solidFill>
                  <a:srgbClr val="263441"/>
                </a:solidFill>
                <a:latin typeface="Calibri"/>
              </a:rPr>
              <a:t>Need-first workflow: user need → guidance → hospital information → documents → assistance.</a:t>
            </a:r>
            <a:endParaRPr sz="58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264012" y="1679270"/>
            <a:ext cx="1173387" cy="32268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03" name="TextBox 102"/>
          <p:cNvSpPr txBox="1"/>
          <p:nvPr/>
        </p:nvSpPr>
        <p:spPr>
          <a:xfrm>
            <a:off x="3766573" y="6483035"/>
            <a:ext cx="2786795" cy="96690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>
              <a:spcAft>
                <a:spcPts val="128"/>
              </a:spcAft>
            </a:pPr>
            <a:r>
              <a:rPr sz="436" b="1">
                <a:solidFill>
                  <a:srgbClr val="226699"/>
                </a:solidFill>
                <a:latin typeface="Calibri"/>
              </a:rPr>
              <a:t>SURVEY INDICATORS  |  n = 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766573" y="6562753"/>
            <a:ext cx="733367" cy="83931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>
              <a:spcAft>
                <a:spcPts val="128"/>
              </a:spcAft>
            </a:pPr>
            <a:r>
              <a:rPr sz="353">
                <a:solidFill>
                  <a:srgbClr val="556573"/>
                </a:solidFill>
                <a:latin typeface="Calibri"/>
              </a:rPr>
              <a:t>Eligibility gap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529274" y="6584183"/>
            <a:ext cx="1466734" cy="32268"/>
          </a:xfrm>
          <a:prstGeom prst="roundRect">
            <a:avLst/>
          </a:prstGeom>
          <a:solidFill>
            <a:srgbClr val="E5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06" name="Rounded Rectangle 105"/>
          <p:cNvSpPr/>
          <p:nvPr/>
        </p:nvSpPr>
        <p:spPr>
          <a:xfrm>
            <a:off x="4529274" y="6584183"/>
            <a:ext cx="953377" cy="32268"/>
          </a:xfrm>
          <a:prstGeom prst="roundRect">
            <a:avLst/>
          </a:prstGeom>
          <a:solidFill>
            <a:srgbClr val="14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07" name="TextBox 106"/>
          <p:cNvSpPr txBox="1"/>
          <p:nvPr/>
        </p:nvSpPr>
        <p:spPr>
          <a:xfrm>
            <a:off x="6042944" y="6558344"/>
            <a:ext cx="322681" cy="86880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 algn="r">
              <a:spcAft>
                <a:spcPts val="128"/>
              </a:spcAft>
            </a:pPr>
            <a:r>
              <a:rPr sz="372" b="1">
                <a:solidFill>
                  <a:srgbClr val="14304B"/>
                </a:solidFill>
                <a:latin typeface="Calibri"/>
              </a:rPr>
              <a:t>65%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766573" y="6621422"/>
            <a:ext cx="733367" cy="83931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>
              <a:spcAft>
                <a:spcPts val="128"/>
              </a:spcAft>
            </a:pPr>
            <a:r>
              <a:rPr sz="353">
                <a:solidFill>
                  <a:srgbClr val="556573"/>
                </a:solidFill>
                <a:latin typeface="Calibri"/>
              </a:rPr>
              <a:t>Benefits gap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529274" y="6642852"/>
            <a:ext cx="1466734" cy="32268"/>
          </a:xfrm>
          <a:prstGeom prst="roundRect">
            <a:avLst/>
          </a:prstGeom>
          <a:solidFill>
            <a:srgbClr val="E5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10" name="Rounded Rectangle 109"/>
          <p:cNvSpPr/>
          <p:nvPr/>
        </p:nvSpPr>
        <p:spPr>
          <a:xfrm>
            <a:off x="4529274" y="6642852"/>
            <a:ext cx="1026714" cy="32268"/>
          </a:xfrm>
          <a:prstGeom prst="roundRect">
            <a:avLst/>
          </a:prstGeom>
          <a:solidFill>
            <a:srgbClr val="14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11" name="TextBox 110"/>
          <p:cNvSpPr txBox="1"/>
          <p:nvPr/>
        </p:nvSpPr>
        <p:spPr>
          <a:xfrm>
            <a:off x="6042944" y="6617012"/>
            <a:ext cx="322681" cy="86880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 algn="r">
              <a:spcAft>
                <a:spcPts val="128"/>
              </a:spcAft>
            </a:pPr>
            <a:r>
              <a:rPr sz="372" b="1">
                <a:solidFill>
                  <a:srgbClr val="14304B"/>
                </a:solidFill>
                <a:latin typeface="Calibri"/>
              </a:rPr>
              <a:t>70%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66573" y="6680091"/>
            <a:ext cx="733367" cy="83931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>
              <a:spcAft>
                <a:spcPts val="128"/>
              </a:spcAft>
            </a:pPr>
            <a:r>
              <a:rPr sz="353">
                <a:solidFill>
                  <a:srgbClr val="556573"/>
                </a:solidFill>
                <a:latin typeface="Calibri"/>
              </a:rPr>
              <a:t>Interested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529274" y="6701521"/>
            <a:ext cx="1466734" cy="32268"/>
          </a:xfrm>
          <a:prstGeom prst="roundRect">
            <a:avLst/>
          </a:prstGeom>
          <a:solidFill>
            <a:srgbClr val="E5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14" name="Rounded Rectangle 113"/>
          <p:cNvSpPr/>
          <p:nvPr/>
        </p:nvSpPr>
        <p:spPr>
          <a:xfrm>
            <a:off x="4529275" y="6701521"/>
            <a:ext cx="1085383" cy="32268"/>
          </a:xfrm>
          <a:prstGeom prst="round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83"/>
          </a:p>
        </p:txBody>
      </p:sp>
      <p:sp>
        <p:nvSpPr>
          <p:cNvPr id="115" name="TextBox 114"/>
          <p:cNvSpPr txBox="1"/>
          <p:nvPr/>
        </p:nvSpPr>
        <p:spPr>
          <a:xfrm>
            <a:off x="6042944" y="6675682"/>
            <a:ext cx="322681" cy="86880"/>
          </a:xfrm>
          <a:prstGeom prst="rect">
            <a:avLst/>
          </a:prstGeom>
          <a:noFill/>
        </p:spPr>
        <p:txBody>
          <a:bodyPr wrap="square" lIns="14667" tIns="14667" rIns="14667" bIns="14667" anchor="ctr">
            <a:spAutoFit/>
          </a:bodyPr>
          <a:lstStyle/>
          <a:p>
            <a:pPr algn="r">
              <a:spcAft>
                <a:spcPts val="128"/>
              </a:spcAft>
            </a:pPr>
            <a:r>
              <a:rPr sz="372" b="1">
                <a:solidFill>
                  <a:srgbClr val="14304B"/>
                </a:solidFill>
                <a:latin typeface="Calibri"/>
              </a:rPr>
              <a:t>74%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rman Lab Poster">
  <a:themeElements>
    <a:clrScheme name="Nirman Lab Poster">
      <a:dk1>
        <a:srgbClr val="13243A"/>
      </a:dk1>
      <a:lt1>
        <a:srgbClr val="FFFFFF"/>
      </a:lt1>
      <a:dk2>
        <a:srgbClr val="0B1F3A"/>
      </a:dk2>
      <a:lt2>
        <a:srgbClr val="EEF3F8"/>
      </a:lt2>
      <a:accent1>
        <a:srgbClr val="F28C28"/>
      </a:accent1>
      <a:accent2>
        <a:srgbClr val="1B8A9E"/>
      </a:accent2>
      <a:accent3>
        <a:srgbClr val="0E4D64"/>
      </a:accent3>
      <a:accent4>
        <a:srgbClr val="F6C34A"/>
      </a:accent4>
      <a:accent5>
        <a:srgbClr val="4A5568"/>
      </a:accent5>
      <a:accent6>
        <a:srgbClr val="2E7D32"/>
      </a:accent6>
      <a:hlink>
        <a:srgbClr val="1B8A9E"/>
      </a:hlink>
      <a:folHlink>
        <a:srgbClr val="0E4D6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irman Lab Poster">
  <a:themeElements>
    <a:clrScheme name="Nirman Lab Poster">
      <a:dk1>
        <a:srgbClr val="13243A"/>
      </a:dk1>
      <a:lt1>
        <a:srgbClr val="FFFFFF"/>
      </a:lt1>
      <a:dk2>
        <a:srgbClr val="0B1F3A"/>
      </a:dk2>
      <a:lt2>
        <a:srgbClr val="EEF3F8"/>
      </a:lt2>
      <a:accent1>
        <a:srgbClr val="F28C28"/>
      </a:accent1>
      <a:accent2>
        <a:srgbClr val="1B8A9E"/>
      </a:accent2>
      <a:accent3>
        <a:srgbClr val="0E4D64"/>
      </a:accent3>
      <a:accent4>
        <a:srgbClr val="F6C34A"/>
      </a:accent4>
      <a:accent5>
        <a:srgbClr val="4A5568"/>
      </a:accent5>
      <a:accent6>
        <a:srgbClr val="2E7D32"/>
      </a:accent6>
      <a:hlink>
        <a:srgbClr val="1B8A9E"/>
      </a:hlink>
      <a:folHlink>
        <a:srgbClr val="0E4D6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364</Words>
  <Application>Microsoft Office PowerPoint</Application>
  <PresentationFormat>A4 Paper (210x297 mm)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</vt:lpstr>
      <vt:lpstr>Nirman Lab Poster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Avdhut Madhavi</cp:lastModifiedBy>
  <cp:revision>4</cp:revision>
  <dcterms:created xsi:type="dcterms:W3CDTF">2026-10-15T15:21:37Z</dcterms:created>
  <dcterms:modified xsi:type="dcterms:W3CDTF">2026-10-22T06:50:17Z</dcterms:modified>
</cp:coreProperties>
</file>
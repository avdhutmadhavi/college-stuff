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88638" cy="15124113"/>
  <p:notesSz cx="15124113" cy="10688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" roundtripDataSignature="AMtx7mioK8NBJgx99EHxAZpjcB/LAPDS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20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651675" y="743818"/>
            <a:ext cx="9397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36576" rIns="36576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20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sz="1500" b="1">
                <a:solidFill>
                  <a:srgbClr val="FFFFFF"/>
                </a:solidFill>
                <a:latin typeface="Calibri"/>
              </a:rPr>
              <a:t>Department of Computer Engineering</a:t>
            </a:r>
            <a:endParaRPr sz="2300" b="1" i="0" u="none" strike="noStrike" cap="none">
              <a:solidFill>
                <a:srgbClr val="D9D2E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2029097" y="1228954"/>
            <a:ext cx="63003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36576" rIns="36576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200"/>
              </a:spcAft>
              <a:buClr>
                <a:srgbClr val="F28C28"/>
              </a:buClr>
              <a:buSzPts val="1500"/>
              <a:buFont typeface="Calibri"/>
              <a:buNone/>
            </a:pPr>
            <a:r>
              <a:rPr sz="2100" b="1">
                <a:solidFill>
                  <a:srgbClr val="148984"/>
                </a:solidFill>
                <a:latin typeface="Calibri"/>
              </a:rPr>
              <a:t>NIRMAN LAB EXHIBITION 2026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243884" y="1584550"/>
            <a:ext cx="10258200" cy="9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36576" rIns="36576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200"/>
              </a:spcAft>
              <a:buClr>
                <a:srgbClr val="FFFFFF"/>
              </a:buClr>
              <a:buSzPts val="4158"/>
              <a:buFont typeface="Cambria"/>
              <a:buNone/>
            </a:pPr>
            <a:r>
              <a:rPr sz="3400" b="1">
                <a:solidFill>
                  <a:srgbClr val="FFFFFF"/>
                </a:solidFill>
                <a:latin typeface="Cambria"/>
              </a:rPr>
              <a:t>PM-JAY CLAIM GPS</a:t>
            </a:r>
            <a:endParaRPr sz="31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24098" y="2627966"/>
            <a:ext cx="2314500" cy="1045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79206" dist="26402" dir="54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5025" tIns="95025" rIns="95025" bIns="950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"/>
          <p:cNvSpPr txBox="1"/>
          <p:nvPr/>
        </p:nvSpPr>
        <p:spPr>
          <a:xfrm>
            <a:off x="275281" y="2890827"/>
            <a:ext cx="2361998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36576" rIns="36576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200"/>
              </a:spcAft>
              <a:buClr>
                <a:srgbClr val="13243A"/>
              </a:buClr>
              <a:buSzPts val="1663"/>
              <a:buFont typeface="Calibri"/>
              <a:buNone/>
            </a:pPr>
            <a:r>
              <a:rPr sz="1500" b="1" dirty="0">
                <a:solidFill>
                  <a:srgbClr val="14304B"/>
                </a:solidFill>
                <a:latin typeface="Calibri"/>
              </a:rPr>
              <a:t>AVDHUT PARISH MADHAVI</a:t>
            </a:r>
            <a:endParaRPr sz="1871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776104" y="2627966"/>
            <a:ext cx="2314500" cy="1045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79206" dist="26402" dir="54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5025" tIns="95025" rIns="95025" bIns="950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1"/>
          <p:cNvSpPr txBox="1"/>
          <p:nvPr/>
        </p:nvSpPr>
        <p:spPr>
          <a:xfrm>
            <a:off x="3225213" y="2915938"/>
            <a:ext cx="2364287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36576" rIns="36576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200"/>
              </a:spcAft>
              <a:buClr>
                <a:srgbClr val="13243A"/>
              </a:buClr>
              <a:buSzPts val="1663"/>
              <a:buFont typeface="Calibri"/>
              <a:buNone/>
            </a:pPr>
            <a:r>
              <a:rPr b="1" dirty="0">
                <a:solidFill>
                  <a:srgbClr val="14304B"/>
                </a:solidFill>
                <a:latin typeface="Calibri"/>
              </a:rPr>
              <a:t>SEM III  •  DIV C2  •  TU3S2627005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70695" y="2601642"/>
            <a:ext cx="2314500" cy="1045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79206" dist="26402" dir="54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5025" tIns="95025" rIns="95025" bIns="950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"/>
          <p:cNvSpPr txBox="1"/>
          <p:nvPr/>
        </p:nvSpPr>
        <p:spPr>
          <a:xfrm>
            <a:off x="5720147" y="2859987"/>
            <a:ext cx="19344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36576" rIns="36576" bIns="36576" anchor="ctr" anchorCtr="0">
            <a:noAutofit/>
          </a:bodyPr>
          <a:lstStyle/>
          <a:p>
            <a:pPr lvl="0">
              <a:spcAft>
                <a:spcPts val="200"/>
              </a:spcAft>
              <a:buClr>
                <a:srgbClr val="13243A"/>
              </a:buClr>
              <a:buSzPts val="1663"/>
            </a:pPr>
            <a:r>
              <a:rPr lang="en-IN" sz="1600" dirty="0"/>
              <a:t>Arogya Pranali: </a:t>
            </a:r>
            <a:r>
              <a:rPr lang="en-IN" sz="1500" b="1" dirty="0">
                <a:solidFill>
                  <a:srgbClr val="14304B"/>
                </a:solidFill>
                <a:latin typeface="Calibri"/>
              </a:rPr>
              <a:t>Intelligent</a:t>
            </a:r>
            <a:r>
              <a:rPr lang="en-IN" sz="1600" dirty="0"/>
              <a:t> Health Systems for Bharat</a:t>
            </a:r>
            <a:endParaRPr lang="en-IN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8022700" y="2601642"/>
            <a:ext cx="2314500" cy="1045500"/>
          </a:xfrm>
          <a:prstGeom prst="roundRect">
            <a:avLst>
              <a:gd name="adj" fmla="val 9091"/>
            </a:avLst>
          </a:prstGeom>
          <a:solidFill>
            <a:srgbClr val="F28C28"/>
          </a:solidFill>
          <a:ln w="13200" cap="flat" cmpd="sng">
            <a:solidFill>
              <a:srgbClr val="F28C28"/>
            </a:solidFill>
            <a:prstDash val="solid"/>
            <a:round/>
            <a:headEnd type="none" w="sm" len="sm"/>
            <a:tailEnd type="none" w="sm" len="sm"/>
          </a:ln>
          <a:effectLst>
            <a:outerShdw blurRad="79206" dist="26402" dir="54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5025" tIns="95025" rIns="95025" bIns="950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"/>
          <p:cNvSpPr txBox="1"/>
          <p:nvPr/>
        </p:nvSpPr>
        <p:spPr>
          <a:xfrm>
            <a:off x="8165275" y="2561450"/>
            <a:ext cx="600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36576" rIns="36576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200"/>
              </a:spcAft>
              <a:buClr>
                <a:srgbClr val="FFFFFF"/>
              </a:buClr>
              <a:buSzPts val="3118"/>
              <a:buFont typeface="Cambria"/>
              <a:buNone/>
            </a:pPr>
            <a:r>
              <a:rPr sz="3400" b="1">
                <a:solidFill>
                  <a:srgbClr val="FFFFFF"/>
                </a:solidFill>
                <a:latin typeface="Calibri"/>
              </a:rPr>
              <a:t>3</a:t>
            </a:r>
            <a:endParaRPr sz="332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8973168" y="2696690"/>
            <a:ext cx="12687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36576" rIns="36576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200"/>
              </a:spcAft>
              <a:buClr>
                <a:srgbClr val="FFFFFF"/>
              </a:buClr>
              <a:buSzPts val="1039"/>
              <a:buFont typeface="Calibri"/>
              <a:buNone/>
            </a:pPr>
            <a:r>
              <a:rPr sz="1050" b="1">
                <a:solidFill>
                  <a:srgbClr val="14304B"/>
                </a:solidFill>
                <a:latin typeface="Calibri"/>
              </a:rPr>
              <a:t>UN SDG GOAL</a:t>
            </a:r>
            <a:endParaRPr sz="155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14304B"/>
                </a:solidFill>
                <a:latin typeface="Calibri"/>
              </a:rPr>
              <a:t>GOOD HEALTH &amp; WELL-BEING</a:t>
            </a:r>
          </a:p>
        </p:txBody>
      </p:sp>
      <p:sp>
        <p:nvSpPr>
          <p:cNvPr id="28" name="Google Shape;28;p1"/>
          <p:cNvSpPr/>
          <p:nvPr/>
        </p:nvSpPr>
        <p:spPr>
          <a:xfrm>
            <a:off x="265625" y="4066700"/>
            <a:ext cx="4919100" cy="18744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 cap="flat" cmpd="sng">
            <a:solidFill>
              <a:srgbClr val="DAE6E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508181" y="4267868"/>
            <a:ext cx="533700" cy="502800"/>
          </a:xfrm>
          <a:prstGeom prst="ellipse">
            <a:avLst/>
          </a:prstGeom>
          <a:solidFill>
            <a:srgbClr val="F28C28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"/>
          <p:cNvSpPr txBox="1"/>
          <p:nvPr/>
        </p:nvSpPr>
        <p:spPr>
          <a:xfrm>
            <a:off x="508181" y="4267868"/>
            <a:ext cx="5337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20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50" b="1">
                <a:solidFill>
                  <a:srgbClr val="FFFFFF"/>
                </a:solidFill>
                <a:latin typeface="Calibri"/>
              </a:rPr>
              <a:t>01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 txBox="1"/>
          <p:nvPr/>
        </p:nvSpPr>
        <p:spPr>
          <a:xfrm>
            <a:off x="1187339" y="4267868"/>
            <a:ext cx="3754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36576" rIns="36576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200"/>
              </a:spcAft>
              <a:buClr>
                <a:srgbClr val="0B1F3A"/>
              </a:buClr>
              <a:buSzPts val="1800"/>
              <a:buFont typeface="Cambria"/>
              <a:buNone/>
            </a:pPr>
            <a:r>
              <a:rPr sz="1800" b="1">
                <a:solidFill>
                  <a:srgbClr val="14304B"/>
                </a:solidFill>
                <a:latin typeface="Cambria"/>
              </a:rPr>
              <a:t>Problem Statement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 txBox="1"/>
          <p:nvPr/>
        </p:nvSpPr>
        <p:spPr>
          <a:xfrm>
            <a:off x="556693" y="4935382"/>
            <a:ext cx="43371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36576" rIns="36576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20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sz="1200" b="0">
                <a:solidFill>
                  <a:srgbClr val="263441"/>
                </a:solidFill>
                <a:latin typeface="Calibri"/>
              </a:rPr>
              <a:t>People may not know what PM-JAY covers, whether they are eligible, which hospitals to approach, or what to do next. Language, literacy and weak internet can make access harder.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265625" y="6246775"/>
            <a:ext cx="4919100" cy="18744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 cap="flat" cmpd="sng">
            <a:solidFill>
              <a:srgbClr val="DAE6E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508181" y="6447943"/>
            <a:ext cx="533700" cy="502800"/>
          </a:xfrm>
          <a:prstGeom prst="ellipse">
            <a:avLst/>
          </a:prstGeom>
          <a:solidFill>
            <a:srgbClr val="148984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1"/>
          <p:cNvSpPr txBox="1"/>
          <p:nvPr/>
        </p:nvSpPr>
        <p:spPr>
          <a:xfrm>
            <a:off x="508181" y="6447943"/>
            <a:ext cx="5337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20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50" b="1">
                <a:solidFill>
                  <a:srgbClr val="FFFFFF"/>
                </a:solidFill>
                <a:latin typeface="Calibri"/>
              </a:rPr>
              <a:t>02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1187339" y="6447943"/>
            <a:ext cx="3754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36576" rIns="36576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200"/>
              </a:spcAft>
              <a:buClr>
                <a:srgbClr val="0B1F3A"/>
              </a:buClr>
              <a:buSzPts val="1800"/>
              <a:buFont typeface="Cambria"/>
              <a:buNone/>
            </a:pPr>
            <a:r>
              <a:rPr sz="1800" b="1">
                <a:solidFill>
                  <a:srgbClr val="14304B"/>
                </a:solidFill>
                <a:latin typeface="Cambria"/>
              </a:rPr>
              <a:t>Objectives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556693" y="7115456"/>
            <a:ext cx="43371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10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sz="1120" b="0">
                <a:solidFill>
                  <a:srgbClr val="263441"/>
                </a:solidFill>
                <a:latin typeface="Calibri"/>
              </a:rPr>
              <a:t>Make PM-JAY guidance clearer; help users find relevant hospitals; explain documents and next steps.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265625" y="8426849"/>
            <a:ext cx="4919100" cy="18744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 cap="flat" cmpd="sng">
            <a:solidFill>
              <a:srgbClr val="DAE6E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508181" y="8628017"/>
            <a:ext cx="533700" cy="502800"/>
          </a:xfrm>
          <a:prstGeom prst="ellipse">
            <a:avLst/>
          </a:prstGeom>
          <a:solidFill>
            <a:srgbClr val="148984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"/>
          <p:cNvSpPr txBox="1"/>
          <p:nvPr/>
        </p:nvSpPr>
        <p:spPr>
          <a:xfrm>
            <a:off x="508181" y="8628017"/>
            <a:ext cx="5337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20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50" b="1">
                <a:solidFill>
                  <a:srgbClr val="FFFFFF"/>
                </a:solidFill>
                <a:latin typeface="Calibri"/>
              </a:rPr>
              <a:t>03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 txBox="1"/>
          <p:nvPr/>
        </p:nvSpPr>
        <p:spPr>
          <a:xfrm>
            <a:off x="1187339" y="8628017"/>
            <a:ext cx="3754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36576" rIns="36576" bIns="36576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B1F3A"/>
              </a:buClr>
              <a:buSzPts val="1800"/>
              <a:buFont typeface="Cambria"/>
              <a:buNone/>
            </a:pPr>
            <a:r>
              <a:rPr sz="1700" b="1">
                <a:solidFill>
                  <a:srgbClr val="14304B"/>
                </a:solidFill>
                <a:latin typeface="Cambria"/>
              </a:rPr>
              <a:t>Design Thinking Journey</a:t>
            </a:r>
            <a:endParaRPr sz="1800" b="1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556693" y="9295531"/>
            <a:ext cx="43371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36576" rIns="36576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20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sz="1019" b="0">
                <a:solidFill>
                  <a:srgbClr val="263441"/>
                </a:solidFill>
                <a:latin typeface="Calibri"/>
              </a:rPr>
              <a:t>EMPATHISE — Questionnaire with 23 respondents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200"/>
              </a:spcAft>
            </a:pPr>
            <a:r>
              <a:rPr sz="1019" b="0">
                <a:solidFill>
                  <a:srgbClr val="263441"/>
                </a:solidFill>
                <a:latin typeface="Calibri"/>
              </a:rPr>
              <a:t>DEFINE — Awareness and navigation gaps</a:t>
            </a:r>
          </a:p>
          <a:p>
            <a:pPr>
              <a:spcAft>
                <a:spcPts val="200"/>
              </a:spcAft>
            </a:pPr>
            <a:r>
              <a:rPr sz="1019" b="0">
                <a:solidFill>
                  <a:srgbClr val="263441"/>
                </a:solidFill>
                <a:latin typeface="Calibri"/>
              </a:rPr>
              <a:t>IDEATE — Compared awareness, print and digital solutions</a:t>
            </a:r>
          </a:p>
          <a:p>
            <a:pPr>
              <a:spcAft>
                <a:spcPts val="200"/>
              </a:spcAft>
            </a:pPr>
            <a:r>
              <a:rPr sz="1019" b="0">
                <a:solidFill>
                  <a:srgbClr val="263441"/>
                </a:solidFill>
                <a:latin typeface="Calibri"/>
              </a:rPr>
              <a:t>PROTOTYPE — Need-first website workflow</a:t>
            </a:r>
          </a:p>
        </p:txBody>
      </p:sp>
      <p:sp>
        <p:nvSpPr>
          <p:cNvPr id="43" name="Google Shape;43;p1"/>
          <p:cNvSpPr/>
          <p:nvPr/>
        </p:nvSpPr>
        <p:spPr>
          <a:xfrm>
            <a:off x="265450" y="12666550"/>
            <a:ext cx="4919100" cy="220050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 cap="flat" cmpd="sng">
            <a:solidFill>
              <a:srgbClr val="DAE6E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429942" y="12919826"/>
            <a:ext cx="533400" cy="502800"/>
          </a:xfrm>
          <a:prstGeom prst="ellipse">
            <a:avLst/>
          </a:prstGeom>
          <a:solidFill>
            <a:srgbClr val="F28C28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"/>
          <p:cNvSpPr txBox="1"/>
          <p:nvPr/>
        </p:nvSpPr>
        <p:spPr>
          <a:xfrm>
            <a:off x="429942" y="12919826"/>
            <a:ext cx="5334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20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50" b="1">
                <a:solidFill>
                  <a:srgbClr val="FFFFFF"/>
                </a:solidFill>
                <a:latin typeface="Calibri"/>
              </a:rPr>
              <a:t>05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1109123" y="12919826"/>
            <a:ext cx="37551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36576" rIns="36576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200"/>
              </a:spcAft>
              <a:buClr>
                <a:srgbClr val="0B1F3A"/>
              </a:buClr>
              <a:buSzPts val="1800"/>
              <a:buFont typeface="Cambria"/>
              <a:buNone/>
            </a:pPr>
            <a:r>
              <a:rPr sz="1700" b="1">
                <a:solidFill>
                  <a:srgbClr val="14304B"/>
                </a:solidFill>
                <a:latin typeface="Cambria"/>
              </a:rPr>
              <a:t>Ideation &amp; Solution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5504700" y="4066700"/>
            <a:ext cx="4919100" cy="428040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 cap="flat" cmpd="sng">
            <a:solidFill>
              <a:srgbClr val="DAE6E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5733288" y="4267875"/>
            <a:ext cx="502800" cy="502800"/>
          </a:xfrm>
          <a:prstGeom prst="ellipse">
            <a:avLst/>
          </a:prstGeom>
          <a:solidFill>
            <a:srgbClr val="148984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"/>
          <p:cNvSpPr txBox="1"/>
          <p:nvPr/>
        </p:nvSpPr>
        <p:spPr>
          <a:xfrm>
            <a:off x="5733288" y="4267875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20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50" b="1">
                <a:solidFill>
                  <a:srgbClr val="FFFFFF"/>
                </a:solidFill>
                <a:latin typeface="Calibri"/>
              </a:rPr>
              <a:t>06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 txBox="1"/>
          <p:nvPr/>
        </p:nvSpPr>
        <p:spPr>
          <a:xfrm>
            <a:off x="6373368" y="4267875"/>
            <a:ext cx="3538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Prototype / Circuit/ Photos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5733288" y="4935387"/>
            <a:ext cx="1998000" cy="1691700"/>
          </a:xfrm>
          <a:prstGeom prst="roundRect">
            <a:avLst>
              <a:gd name="adj" fmla="val 4324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>
            <a:solidFill>
              <a:srgbClr val="CDDCE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27432" tIns="27432" rIns="27432" bIns="27432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200"/>
              </a:spcAft>
              <a:buClr>
                <a:srgbClr val="4A5568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7914132" y="4935387"/>
            <a:ext cx="1998000" cy="1691700"/>
          </a:xfrm>
          <a:prstGeom prst="roundRect">
            <a:avLst>
              <a:gd name="adj" fmla="val 4324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>
            <a:solidFill>
              <a:srgbClr val="CDDCE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27432" tIns="27432" rIns="27432" bIns="27432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200"/>
              </a:spcAft>
              <a:buClr>
                <a:srgbClr val="4A5568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5504701" y="8644575"/>
            <a:ext cx="4919100" cy="18744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 cap="flat" cmpd="sng">
            <a:solidFill>
              <a:srgbClr val="DAE6E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"/>
          <p:cNvSpPr/>
          <p:nvPr/>
        </p:nvSpPr>
        <p:spPr>
          <a:xfrm>
            <a:off x="5747266" y="8759115"/>
            <a:ext cx="533400" cy="502800"/>
          </a:xfrm>
          <a:prstGeom prst="ellipse">
            <a:avLst/>
          </a:prstGeom>
          <a:solidFill>
            <a:srgbClr val="148984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"/>
          <p:cNvSpPr txBox="1"/>
          <p:nvPr/>
        </p:nvSpPr>
        <p:spPr>
          <a:xfrm>
            <a:off x="5747266" y="8759115"/>
            <a:ext cx="5334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20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50" b="1">
                <a:solidFill>
                  <a:srgbClr val="FFFFFF"/>
                </a:solidFill>
                <a:latin typeface="Calibri"/>
              </a:rPr>
              <a:t>07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6426455" y="8759106"/>
            <a:ext cx="3900600" cy="5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36576" rIns="36576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200"/>
              </a:spcAft>
              <a:buClr>
                <a:srgbClr val="0B1F3A"/>
              </a:buClr>
              <a:buSzPts val="1800"/>
              <a:buFont typeface="Cambria"/>
              <a:buNone/>
            </a:pPr>
            <a:r>
              <a:rPr sz="1500" b="1">
                <a:solidFill>
                  <a:srgbClr val="14304B"/>
                </a:solidFill>
                <a:latin typeface="Cambria"/>
              </a:rPr>
              <a:t>Results, Observations &amp; Failure Log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5795778" y="9395700"/>
            <a:ext cx="43371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10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sz="919" b="0">
                <a:solidFill>
                  <a:srgbClr val="263441"/>
                </a:solidFill>
                <a:latin typeface="Calibri"/>
              </a:rPr>
              <a:t>Survey of 23 respondents: 65% did not know eligibility; 70% did not know benefits.</a:t>
            </a:r>
            <a:endParaRPr sz="1400" b="0" i="0" u="none" strike="noStrike" cap="none"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100"/>
              </a:spcAft>
            </a:pPr>
            <a:r>
              <a:rPr sz="919" b="0">
                <a:solidFill>
                  <a:srgbClr val="263441"/>
                </a:solidFill>
                <a:latin typeface="Calibri"/>
              </a:rPr>
              <a:t>74% wished to apply; 65% did not know nearby PM-JAY hospitals.</a:t>
            </a:r>
          </a:p>
          <a:p>
            <a:pPr>
              <a:spcAft>
                <a:spcPts val="100"/>
              </a:spcAft>
            </a:pPr>
            <a:r>
              <a:rPr sz="919" b="0">
                <a:solidFill>
                  <a:srgbClr val="263441"/>
                </a:solidFill>
                <a:latin typeface="Calibri"/>
              </a:rPr>
              <a:t>Finding: strong interest, but practical awareness gaps.</a:t>
            </a:r>
          </a:p>
        </p:txBody>
      </p:sp>
      <p:sp>
        <p:nvSpPr>
          <p:cNvPr id="58" name="Google Shape;58;p1"/>
          <p:cNvSpPr/>
          <p:nvPr/>
        </p:nvSpPr>
        <p:spPr>
          <a:xfrm>
            <a:off x="5504701" y="10793413"/>
            <a:ext cx="4919100" cy="18744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 cap="flat" cmpd="sng">
            <a:solidFill>
              <a:srgbClr val="DAE6E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"/>
          <p:cNvSpPr/>
          <p:nvPr/>
        </p:nvSpPr>
        <p:spPr>
          <a:xfrm>
            <a:off x="5747260" y="10975331"/>
            <a:ext cx="533700" cy="502800"/>
          </a:xfrm>
          <a:prstGeom prst="ellipse">
            <a:avLst/>
          </a:prstGeom>
          <a:solidFill>
            <a:srgbClr val="148984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"/>
          <p:cNvSpPr txBox="1"/>
          <p:nvPr/>
        </p:nvSpPr>
        <p:spPr>
          <a:xfrm>
            <a:off x="5747260" y="10975331"/>
            <a:ext cx="5337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20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50" b="1">
                <a:solidFill>
                  <a:srgbClr val="FFFFFF"/>
                </a:solidFill>
                <a:latin typeface="Calibri"/>
              </a:rPr>
              <a:t>08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"/>
          <p:cNvSpPr txBox="1"/>
          <p:nvPr/>
        </p:nvSpPr>
        <p:spPr>
          <a:xfrm>
            <a:off x="6426426" y="10975331"/>
            <a:ext cx="3754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36576" rIns="36576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200"/>
              </a:spcAft>
              <a:buClr>
                <a:srgbClr val="0B1F3A"/>
              </a:buClr>
              <a:buSzPts val="1800"/>
              <a:buFont typeface="Cambria"/>
              <a:buNone/>
            </a:pPr>
            <a:r>
              <a:rPr sz="1700" b="1">
                <a:solidFill>
                  <a:srgbClr val="14304B"/>
                </a:solidFill>
                <a:latin typeface="Cambria"/>
              </a:rPr>
              <a:t>Impact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5795772" y="11642845"/>
            <a:ext cx="43371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36576" rIns="36576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20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sz="1019" b="0">
                <a:solidFill>
                  <a:srgbClr val="263441"/>
                </a:solidFill>
                <a:latin typeface="Calibri"/>
              </a:rPr>
              <a:t>SDG 3: supports navigation to healthcare information.</a:t>
            </a:r>
            <a:endParaRPr sz="1400" b="0" i="0" u="none" strike="noStrike" cap="none"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200"/>
              </a:spcAft>
            </a:pPr>
            <a:r>
              <a:rPr sz="1019" b="0">
                <a:solidFill>
                  <a:srgbClr val="263441"/>
                </a:solidFill>
                <a:latin typeface="Calibri"/>
              </a:rPr>
              <a:t>User value: clearer next steps, easier discovery and less confusion.</a:t>
            </a:r>
          </a:p>
          <a:p>
            <a:pPr>
              <a:spcAft>
                <a:spcPts val="200"/>
              </a:spcAft>
            </a:pPr>
            <a:r>
              <a:rPr sz="1019" b="0">
                <a:solidFill>
                  <a:srgbClr val="263441"/>
                </a:solidFill>
                <a:latin typeface="Calibri"/>
              </a:rPr>
              <a:t>Potential to save time and unnecessary trips; actual impact needs testing.</a:t>
            </a:r>
          </a:p>
          <a:p>
            <a:pPr>
              <a:spcAft>
                <a:spcPts val="200"/>
              </a:spcAft>
            </a:pPr>
            <a:r>
              <a:rPr sz="1019" b="0">
                <a:solidFill>
                  <a:srgbClr val="263441"/>
                </a:solidFill>
                <a:latin typeface="Calibri"/>
              </a:rPr>
              <a:t>Scale-up: verified hospital data, regional languages and low-connectivity support.</a:t>
            </a:r>
          </a:p>
        </p:txBody>
      </p:sp>
      <p:sp>
        <p:nvSpPr>
          <p:cNvPr id="63" name="Google Shape;63;p1"/>
          <p:cNvSpPr/>
          <p:nvPr/>
        </p:nvSpPr>
        <p:spPr>
          <a:xfrm>
            <a:off x="5504700" y="12911025"/>
            <a:ext cx="4919100" cy="19560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 cap="flat" cmpd="sng">
            <a:solidFill>
              <a:srgbClr val="DAE6E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"/>
          <p:cNvSpPr/>
          <p:nvPr/>
        </p:nvSpPr>
        <p:spPr>
          <a:xfrm>
            <a:off x="5747266" y="13112193"/>
            <a:ext cx="533400" cy="502800"/>
          </a:xfrm>
          <a:prstGeom prst="ellipse">
            <a:avLst/>
          </a:prstGeom>
          <a:solidFill>
            <a:srgbClr val="148984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"/>
          <p:cNvSpPr txBox="1"/>
          <p:nvPr/>
        </p:nvSpPr>
        <p:spPr>
          <a:xfrm>
            <a:off x="5747266" y="13112193"/>
            <a:ext cx="5334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20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50" b="1">
                <a:solidFill>
                  <a:srgbClr val="FFFFFF"/>
                </a:solidFill>
                <a:latin typeface="Calibri"/>
              </a:rPr>
              <a:t>09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"/>
          <p:cNvSpPr txBox="1"/>
          <p:nvPr/>
        </p:nvSpPr>
        <p:spPr>
          <a:xfrm>
            <a:off x="6426447" y="13112193"/>
            <a:ext cx="37551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36576" rIns="36576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200"/>
              </a:spcAft>
              <a:buClr>
                <a:srgbClr val="0B1F3A"/>
              </a:buClr>
              <a:buSzPts val="1800"/>
              <a:buFont typeface="Cambria"/>
              <a:buNone/>
            </a:pPr>
            <a:r>
              <a:rPr sz="1550" b="1">
                <a:solidFill>
                  <a:srgbClr val="14304B"/>
                </a:solidFill>
                <a:latin typeface="Cambria"/>
              </a:rPr>
              <a:t>Conclusion &amp; Future Scope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5795779" y="13779705"/>
            <a:ext cx="43371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36576" rIns="36576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sz="1010" b="0">
                <a:solidFill>
                  <a:srgbClr val="263441"/>
                </a:solidFill>
                <a:latin typeface="Calibri"/>
              </a:rPr>
              <a:t>PM-JAY Claim GPS turns a healthcare question into a guided next step. Next: test with users, verify hospital records, improve language/accessibility features, and explore authorised integrations.</a:t>
            </a:r>
            <a:endParaRPr sz="14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"/>
          <p:cNvSpPr txBox="1"/>
          <p:nvPr/>
        </p:nvSpPr>
        <p:spPr>
          <a:xfrm>
            <a:off x="3049724" y="14841149"/>
            <a:ext cx="4796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36576" rIns="36576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20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050" b="1">
                <a:solidFill>
                  <a:srgbClr val="FFFFFF"/>
                </a:solidFill>
                <a:latin typeface="Calibri"/>
              </a:rPr>
              <a:t>Guide: Rohini Patil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26164" y="67825"/>
            <a:ext cx="5800725" cy="819150"/>
          </a:xfrm>
          <a:prstGeom prst="rect">
            <a:avLst/>
          </a:prstGeom>
          <a:noFill/>
          <a:ln>
            <a:noFill/>
          </a:ln>
          <a:effectLst>
            <a:outerShdw blurRad="85725" dist="19050" dir="5400000" algn="bl" rotWithShape="0">
              <a:srgbClr val="000000">
                <a:alpha val="50000"/>
              </a:srgbClr>
            </a:outerShdw>
            <a:reflection stA="3000" dist="38100" dir="5400000" fadeDir="5400012" sy="-100000" algn="bl" rotWithShape="0"/>
          </a:effectLst>
        </p:spPr>
      </p:pic>
      <p:sp>
        <p:nvSpPr>
          <p:cNvPr id="70" name="Google Shape;70;p1"/>
          <p:cNvSpPr/>
          <p:nvPr/>
        </p:nvSpPr>
        <p:spPr>
          <a:xfrm>
            <a:off x="277492" y="10546708"/>
            <a:ext cx="4919100" cy="18744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 cap="flat" cmpd="sng">
            <a:solidFill>
              <a:srgbClr val="DAE6E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3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"/>
          <p:cNvSpPr/>
          <p:nvPr/>
        </p:nvSpPr>
        <p:spPr>
          <a:xfrm>
            <a:off x="520048" y="10699752"/>
            <a:ext cx="533700" cy="502800"/>
          </a:xfrm>
          <a:prstGeom prst="ellipse">
            <a:avLst/>
          </a:prstGeom>
          <a:solidFill>
            <a:srgbClr val="F28C28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"/>
          <p:cNvSpPr txBox="1"/>
          <p:nvPr/>
        </p:nvSpPr>
        <p:spPr>
          <a:xfrm>
            <a:off x="520048" y="10699752"/>
            <a:ext cx="5337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20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50" b="1">
                <a:solidFill>
                  <a:srgbClr val="FFFFFF"/>
                </a:solidFill>
                <a:latin typeface="Calibri"/>
              </a:rPr>
              <a:t>04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"/>
          <p:cNvSpPr txBox="1"/>
          <p:nvPr/>
        </p:nvSpPr>
        <p:spPr>
          <a:xfrm>
            <a:off x="1199206" y="10699752"/>
            <a:ext cx="3754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36576" rIns="36576" bIns="36576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700" b="1">
                <a:solidFill>
                  <a:srgbClr val="14304B"/>
                </a:solidFill>
                <a:latin typeface="Cambria"/>
              </a:rPr>
              <a:t>Research Evidence</a:t>
            </a:r>
            <a:endParaRPr sz="1800" b="1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4" name="Google Shape;74;p1"/>
          <p:cNvSpPr txBox="1"/>
          <p:nvPr/>
        </p:nvSpPr>
        <p:spPr>
          <a:xfrm>
            <a:off x="568560" y="11367265"/>
            <a:ext cx="43371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36576" rIns="36576" bIns="3657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sz="1010" b="0">
                <a:solidFill>
                  <a:srgbClr val="263441"/>
                </a:solidFill>
                <a:latin typeface="Calibri"/>
              </a:rPr>
              <a:t>Primary research: questionnaire (n=23).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200"/>
              </a:spcAft>
            </a:pPr>
            <a:r>
              <a:rPr sz="1010" b="0">
                <a:solidFill>
                  <a:srgbClr val="263441"/>
                </a:solidFill>
                <a:latin typeface="Calibri"/>
              </a:rPr>
              <a:t>Key gap: interest in applying is higher than awareness of eligibility, benefits and nearby hospitals.</a:t>
            </a:r>
          </a:p>
          <a:p>
            <a:pPr>
              <a:spcAft>
                <a:spcPts val="200"/>
              </a:spcAft>
            </a:pPr>
            <a:r>
              <a:rPr sz="1010" b="0">
                <a:solidFill>
                  <a:srgbClr val="263441"/>
                </a:solidFill>
                <a:latin typeface="Calibri"/>
              </a:rPr>
              <a:t>Reference basis: National Health Authority PM-JAY information and NITI Aayog programme context.</a:t>
            </a:r>
          </a:p>
          <a:p>
            <a:pPr>
              <a:spcAft>
                <a:spcPts val="200"/>
              </a:spcAft>
            </a:pPr>
            <a:r>
              <a:rPr sz="1010" b="0">
                <a:solidFill>
                  <a:srgbClr val="263441"/>
                </a:solidFill>
                <a:latin typeface="Calibri"/>
              </a:rPr>
              <a:t>Evidence informs the design; effectiveness still needs validation.</a:t>
            </a:r>
          </a:p>
        </p:txBody>
      </p:sp>
      <p:sp>
        <p:nvSpPr>
          <p:cNvPr id="75" name="Google Shape;75;p1"/>
          <p:cNvSpPr txBox="1"/>
          <p:nvPr/>
        </p:nvSpPr>
        <p:spPr>
          <a:xfrm>
            <a:off x="411485" y="13514832"/>
            <a:ext cx="43371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36576" rIns="36576" bIns="3657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sz="1050" b="0">
                <a:solidFill>
                  <a:srgbClr val="263441"/>
                </a:solidFill>
                <a:latin typeface="Calibri"/>
              </a:rPr>
              <a:t>Need-first workflow: user need → guidance → hospital information → documents → assistance.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411480" y="2459736"/>
            <a:ext cx="1828800" cy="502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870448" y="9962628"/>
            <a:ext cx="4343400" cy="11887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680" b="1">
                <a:solidFill>
                  <a:srgbClr val="226699"/>
                </a:solidFill>
                <a:latin typeface="Calibri"/>
              </a:rPr>
              <a:t>SURVEY INDICATORS  |  n = 23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870448" y="10090644"/>
            <a:ext cx="1143000" cy="914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550" b="0">
                <a:solidFill>
                  <a:srgbClr val="556573"/>
                </a:solidFill>
                <a:latin typeface="Calibri"/>
              </a:rPr>
              <a:t>Eligibility gap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059168" y="10104360"/>
            <a:ext cx="2286000" cy="50292"/>
          </a:xfrm>
          <a:prstGeom prst="roundRect">
            <a:avLst/>
          </a:prstGeom>
          <a:solidFill>
            <a:srgbClr val="E5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7059168" y="10104360"/>
            <a:ext cx="1485900" cy="50292"/>
          </a:xfrm>
          <a:prstGeom prst="roundRect">
            <a:avLst/>
          </a:prstGeom>
          <a:solidFill>
            <a:srgbClr val="14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9418320" y="10081500"/>
            <a:ext cx="502920" cy="1005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580" b="1">
                <a:solidFill>
                  <a:srgbClr val="14304B"/>
                </a:solidFill>
                <a:latin typeface="Calibri"/>
              </a:rPr>
              <a:t>65%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870448" y="10182084"/>
            <a:ext cx="1143000" cy="914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550" b="0">
                <a:solidFill>
                  <a:srgbClr val="556573"/>
                </a:solidFill>
                <a:latin typeface="Calibri"/>
              </a:rPr>
              <a:t>Benefits gap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059168" y="10195800"/>
            <a:ext cx="2286000" cy="50292"/>
          </a:xfrm>
          <a:prstGeom prst="roundRect">
            <a:avLst/>
          </a:prstGeom>
          <a:solidFill>
            <a:srgbClr val="E5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ounded Rectangle 109"/>
          <p:cNvSpPr/>
          <p:nvPr/>
        </p:nvSpPr>
        <p:spPr>
          <a:xfrm>
            <a:off x="7059168" y="10195800"/>
            <a:ext cx="1600200" cy="50292"/>
          </a:xfrm>
          <a:prstGeom prst="roundRect">
            <a:avLst/>
          </a:prstGeom>
          <a:solidFill>
            <a:srgbClr val="14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9418320" y="10172939"/>
            <a:ext cx="502920" cy="1005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580" b="1">
                <a:solidFill>
                  <a:srgbClr val="14304B"/>
                </a:solidFill>
                <a:latin typeface="Calibri"/>
              </a:rPr>
              <a:t>70%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870448" y="10273524"/>
            <a:ext cx="1143000" cy="9144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550" b="0">
                <a:solidFill>
                  <a:srgbClr val="556573"/>
                </a:solidFill>
                <a:latin typeface="Calibri"/>
              </a:rPr>
              <a:t>Interested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7059168" y="10287239"/>
            <a:ext cx="2286000" cy="50292"/>
          </a:xfrm>
          <a:prstGeom prst="roundRect">
            <a:avLst/>
          </a:prstGeom>
          <a:solidFill>
            <a:srgbClr val="E5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7059168" y="10287239"/>
            <a:ext cx="1691640" cy="50292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9418320" y="10264379"/>
            <a:ext cx="502920" cy="1005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580" b="1">
                <a:solidFill>
                  <a:srgbClr val="14304B"/>
                </a:solidFill>
                <a:latin typeface="Calibri"/>
              </a:rPr>
              <a:t>74%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rman Lab Poster">
  <a:themeElements>
    <a:clrScheme name="Nirman Lab Poster">
      <a:dk1>
        <a:srgbClr val="13243A"/>
      </a:dk1>
      <a:lt1>
        <a:srgbClr val="FFFFFF"/>
      </a:lt1>
      <a:dk2>
        <a:srgbClr val="0B1F3A"/>
      </a:dk2>
      <a:lt2>
        <a:srgbClr val="EEF3F8"/>
      </a:lt2>
      <a:accent1>
        <a:srgbClr val="F28C28"/>
      </a:accent1>
      <a:accent2>
        <a:srgbClr val="1B8A9E"/>
      </a:accent2>
      <a:accent3>
        <a:srgbClr val="0E4D64"/>
      </a:accent3>
      <a:accent4>
        <a:srgbClr val="F6C34A"/>
      </a:accent4>
      <a:accent5>
        <a:srgbClr val="4A5568"/>
      </a:accent5>
      <a:accent6>
        <a:srgbClr val="2E7D32"/>
      </a:accent6>
      <a:hlink>
        <a:srgbClr val="1B8A9E"/>
      </a:hlink>
      <a:folHlink>
        <a:srgbClr val="0E4D6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irman Lab Poster">
  <a:themeElements>
    <a:clrScheme name="Nirman Lab Poster">
      <a:dk1>
        <a:srgbClr val="13243A"/>
      </a:dk1>
      <a:lt1>
        <a:srgbClr val="FFFFFF"/>
      </a:lt1>
      <a:dk2>
        <a:srgbClr val="0B1F3A"/>
      </a:dk2>
      <a:lt2>
        <a:srgbClr val="EEF3F8"/>
      </a:lt2>
      <a:accent1>
        <a:srgbClr val="F28C28"/>
      </a:accent1>
      <a:accent2>
        <a:srgbClr val="1B8A9E"/>
      </a:accent2>
      <a:accent3>
        <a:srgbClr val="0E4D64"/>
      </a:accent3>
      <a:accent4>
        <a:srgbClr val="F6C34A"/>
      </a:accent4>
      <a:accent5>
        <a:srgbClr val="4A5568"/>
      </a:accent5>
      <a:accent6>
        <a:srgbClr val="2E7D32"/>
      </a:accent6>
      <a:hlink>
        <a:srgbClr val="1B8A9E"/>
      </a:hlink>
      <a:folHlink>
        <a:srgbClr val="0E4D6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364</Words>
  <Application>Microsoft Office PowerPoint</Application>
  <PresentationFormat>Custom</PresentationFormat>
  <Paragraphs>55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Nirman Lab Poster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Avdhut Madhavi</cp:lastModifiedBy>
  <cp:revision>3</cp:revision>
  <dcterms:created xsi:type="dcterms:W3CDTF">2026-10-15T15:21:37Z</dcterms:created>
  <dcterms:modified xsi:type="dcterms:W3CDTF">2026-10-22T04:29:21Z</dcterms:modified>
</cp:coreProperties>
</file>
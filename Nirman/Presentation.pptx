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8" r:id="rId16"/>
    <p:sldId id="279" r:id="rId17"/>
    <p:sldId id="281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6">
            <a:extLst>
              <a:ext uri="{FF2B5EF4-FFF2-40B4-BE49-F238E27FC236}">
                <a16:creationId xmlns:a16="http://schemas.microsoft.com/office/drawing/2014/main" id="{CA4C0D3B-5087-A162-D8E6-DD648F302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Subtitle 3">
            <a:extLst>
              <a:ext uri="{FF2B5EF4-FFF2-40B4-BE49-F238E27FC236}">
                <a16:creationId xmlns:a16="http://schemas.microsoft.com/office/drawing/2014/main" id="{152A1EDA-8DF5-0123-8AE0-A85B7C60BE39}"/>
              </a:ext>
            </a:extLst>
          </p:cNvPr>
          <p:cNvSpPr txBox="1">
            <a:spLocks/>
          </p:cNvSpPr>
          <p:nvPr/>
        </p:nvSpPr>
        <p:spPr>
          <a:xfrm>
            <a:off x="3623305" y="885256"/>
            <a:ext cx="4945389" cy="57661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500" b="1">
                <a:solidFill>
                  <a:srgbClr val="1E5896"/>
                </a:solidFill>
              </a:defRPr>
            </a:pPr>
            <a:r>
              <a:rPr lang="en-IN" sz="3000" b="1">
                <a:solidFill>
                  <a:srgbClr val="1E5896"/>
                </a:solidFill>
              </a:rPr>
              <a:t>PM-JAY CLAIM GPS</a:t>
            </a:r>
            <a:endParaRPr lang="en-IN" sz="3000" b="1" dirty="0">
              <a:solidFill>
                <a:srgbClr val="1E5896"/>
              </a:solidFill>
            </a:endParaRPr>
          </a:p>
        </p:txBody>
      </p:sp>
      <p:pic>
        <p:nvPicPr>
          <p:cNvPr id="27" name="Picture 26" descr="QualCampus">
            <a:extLst>
              <a:ext uri="{FF2B5EF4-FFF2-40B4-BE49-F238E27FC236}">
                <a16:creationId xmlns:a16="http://schemas.microsoft.com/office/drawing/2014/main" id="{B25E11E6-FB2F-097A-4E8C-0661F2E84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61BD7F5-35F3-34B0-159A-B254742879DE}"/>
              </a:ext>
            </a:extLst>
          </p:cNvPr>
          <p:cNvSpPr txBox="1"/>
          <p:nvPr/>
        </p:nvSpPr>
        <p:spPr>
          <a:xfrm>
            <a:off x="655320" y="2076742"/>
            <a:ext cx="5440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E5896"/>
                </a:solidFill>
              </a:defRPr>
            </a:pPr>
            <a:r>
              <a:rPr sz="1600" dirty="0"/>
              <a:t>PROBLEM STATEMENT ID – PS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C18785-EE0E-FD8F-9CF0-08D27CCB1D00}"/>
              </a:ext>
            </a:extLst>
          </p:cNvPr>
          <p:cNvSpPr txBox="1"/>
          <p:nvPr/>
        </p:nvSpPr>
        <p:spPr>
          <a:xfrm>
            <a:off x="655319" y="2488222"/>
            <a:ext cx="5778137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rPr sz="1900" dirty="0"/>
              <a:t>PM-JAY Awareness &amp; Claims Navigation in Aspirational Districts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4F7588-7F37-8D22-52B7-D47E2673303A}"/>
              </a:ext>
            </a:extLst>
          </p:cNvPr>
          <p:cNvSpPr txBox="1"/>
          <p:nvPr/>
        </p:nvSpPr>
        <p:spPr>
          <a:xfrm>
            <a:off x="655320" y="3336067"/>
            <a:ext cx="5440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rPr sz="1600" dirty="0"/>
              <a:t>THEME – Healthcare / Public Service Accessibility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9F2075-6D7C-B893-6034-F347B2896678}"/>
              </a:ext>
            </a:extLst>
          </p:cNvPr>
          <p:cNvSpPr txBox="1"/>
          <p:nvPr/>
        </p:nvSpPr>
        <p:spPr>
          <a:xfrm>
            <a:off x="655320" y="3924518"/>
            <a:ext cx="54406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rPr lang="en-US" sz="1600" dirty="0"/>
              <a:t>Name:- Avdhut Parish Madhavi</a:t>
            </a:r>
          </a:p>
          <a:p>
            <a:pPr algn="l">
              <a:defRPr sz="1300" b="0">
                <a:solidFill>
                  <a:srgbClr val="282828"/>
                </a:solidFill>
              </a:defRPr>
            </a:pPr>
            <a:r>
              <a:rPr lang="en-US" sz="1600" dirty="0"/>
              <a:t>ID:- TU3S2627005</a:t>
            </a:r>
            <a:endParaRPr sz="1600" dirty="0"/>
          </a:p>
        </p:txBody>
      </p:sp>
      <p:sp>
        <p:nvSpPr>
          <p:cNvPr id="32" name="Rounded Rectangle 42">
            <a:extLst>
              <a:ext uri="{FF2B5EF4-FFF2-40B4-BE49-F238E27FC236}">
                <a16:creationId xmlns:a16="http://schemas.microsoft.com/office/drawing/2014/main" id="{CF4E5603-5937-69A6-6A96-3C625C79F16D}"/>
              </a:ext>
            </a:extLst>
          </p:cNvPr>
          <p:cNvSpPr/>
          <p:nvPr/>
        </p:nvSpPr>
        <p:spPr>
          <a:xfrm>
            <a:off x="6255251" y="1757073"/>
            <a:ext cx="5303520" cy="2057400"/>
          </a:xfrm>
          <a:prstGeom prst="roundRect">
            <a:avLst/>
          </a:prstGeom>
          <a:solidFill>
            <a:srgbClr val="EBF3FB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E5896"/>
                </a:solidFill>
              </a:defRPr>
            </a:pPr>
            <a:r>
              <a:t>THE PROBLEM</a:t>
            </a:r>
          </a:p>
          <a:p>
            <a:pPr>
              <a:spcAft>
                <a:spcPts val="0"/>
              </a:spcAft>
              <a:defRPr sz="1500">
                <a:solidFill>
                  <a:srgbClr val="282828"/>
                </a:solidFill>
              </a:defRPr>
            </a:pPr>
            <a:r>
              <a:t>Many eligible people do not know what PM-JAY covers. Some also struggle to find the right hospital or complete the claim process because they may have low literacy, a basic phone, or weak internet.</a:t>
            </a:r>
          </a:p>
        </p:txBody>
      </p:sp>
      <p:sp>
        <p:nvSpPr>
          <p:cNvPr id="33" name="Rounded Rectangle 43">
            <a:extLst>
              <a:ext uri="{FF2B5EF4-FFF2-40B4-BE49-F238E27FC236}">
                <a16:creationId xmlns:a16="http://schemas.microsoft.com/office/drawing/2014/main" id="{1E448820-897B-0346-376D-3569D64CDCBF}"/>
              </a:ext>
            </a:extLst>
          </p:cNvPr>
          <p:cNvSpPr/>
          <p:nvPr/>
        </p:nvSpPr>
        <p:spPr>
          <a:xfrm>
            <a:off x="6255251" y="4107082"/>
            <a:ext cx="5303520" cy="1051560"/>
          </a:xfrm>
          <a:prstGeom prst="roundRect">
            <a:avLst/>
          </a:prstGeom>
          <a:solidFill>
            <a:srgbClr val="E7F5EC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1E5896"/>
                </a:solidFill>
              </a:defRPr>
            </a:pPr>
            <a:r>
              <a:t>OUR IDEA</a:t>
            </a:r>
          </a:p>
          <a:p>
            <a:pPr>
              <a:spcAft>
                <a:spcPts val="0"/>
              </a:spcAft>
              <a:defRPr sz="1500">
                <a:solidFill>
                  <a:srgbClr val="282828"/>
                </a:solidFill>
              </a:defRPr>
            </a:pPr>
            <a:r>
              <a:t>Tell us what treatment you need. We guide you to the PM-JAY help available and what to do next.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896C21-3D68-8980-EA06-570EB8B96352}"/>
              </a:ext>
            </a:extLst>
          </p:cNvPr>
          <p:cNvSpPr txBox="1"/>
          <p:nvPr/>
        </p:nvSpPr>
        <p:spPr>
          <a:xfrm>
            <a:off x="4354286" y="35885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NIRMAN LAB SE-C2-60 (SH-2026)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44752"/>
            <a:ext cx="109728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26A64"/>
                </a:solidFill>
                <a:latin typeface="Aptos"/>
              </a:defRPr>
            </a:pPr>
            <a:r>
              <a:rPr dirty="0"/>
              <a:t>Make the first steps of healthcare support easier to understand and complete.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257800" cy="333756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66344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B9684F"/>
                </a:solidFill>
                <a:latin typeface="Aptos"/>
              </a:defRPr>
            </a:pPr>
            <a:r>
              <a:rPr dirty="0"/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750788" cy="176663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People may be unsure what PM-JAY covers, </a:t>
            </a:r>
            <a:endParaRPr lang="en-US" dirty="0"/>
          </a:p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which hospital to approach,</a:t>
            </a:r>
            <a:r>
              <a:rPr lang="en-US" dirty="0"/>
              <a:t> </a:t>
            </a:r>
            <a:r>
              <a:rPr dirty="0"/>
              <a:t>which documents </a:t>
            </a:r>
            <a:endParaRPr lang="en-US" dirty="0"/>
          </a:p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to carry, or how to move forward.</a:t>
            </a:r>
            <a:endParaRPr lang="en-US" dirty="0"/>
          </a:p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Language, literacy and weak internet can make </a:t>
            </a:r>
            <a:endParaRPr lang="en-US" dirty="0"/>
          </a:p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the process harder.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57400"/>
            <a:ext cx="5257800" cy="3337560"/>
          </a:xfrm>
          <a:prstGeom prst="roundRect">
            <a:avLst>
              <a:gd name="adj" fmla="val 8000"/>
            </a:avLst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537960" y="2331720"/>
            <a:ext cx="466344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245747"/>
                </a:solidFill>
                <a:latin typeface="Aptos"/>
              </a:defRPr>
            </a:pPr>
            <a:r>
              <a:rPr dirty="0"/>
              <a:t>OUR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34640"/>
            <a:ext cx="4665636" cy="141269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Let a person describe the healthcare help they</a:t>
            </a:r>
            <a:endParaRPr lang="en-US" dirty="0"/>
          </a:p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 need, then provide understandable guidance, </a:t>
            </a:r>
            <a:endParaRPr lang="en-US" dirty="0"/>
          </a:p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hospital-finding support and a clear next step, </a:t>
            </a:r>
            <a:endParaRPr lang="en-US" dirty="0"/>
          </a:p>
          <a:p>
            <a:pPr algn="l">
              <a:spcAft>
                <a:spcPts val="600"/>
              </a:spcAft>
              <a:defRPr sz="1800" b="0">
                <a:solidFill>
                  <a:srgbClr val="242A27"/>
                </a:solidFill>
                <a:latin typeface="Aptos"/>
              </a:defRPr>
            </a:pPr>
            <a:r>
              <a:rPr dirty="0"/>
              <a:t>with human assistance when needed.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45747"/>
                </a:solidFill>
                <a:latin typeface="Aptos"/>
              </a:defRPr>
            </a:pPr>
            <a:r>
              <a:rPr dirty="0"/>
              <a:t>Design principle: start with “I need this treatment,” not “How do I use PM-JAY?”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TECHNICAL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Technical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44752"/>
            <a:ext cx="109728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26A64"/>
                </a:solidFill>
                <a:latin typeface="Aptos"/>
              </a:defRPr>
            </a:pPr>
            <a:r>
              <a:rPr dirty="0"/>
              <a:t>Planned architecture for a functional, deployable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93392"/>
            <a:ext cx="5257800" cy="98755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86968" y="2103120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084832"/>
            <a:ext cx="2174570" cy="30469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D32"/>
                </a:solidFill>
                <a:latin typeface="Aptos"/>
              </a:defRPr>
            </a:pPr>
            <a:r>
              <a:rPr dirty="0"/>
              <a:t>HTML • CSS • 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32304"/>
            <a:ext cx="48006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26A64"/>
                </a:solidFill>
                <a:latin typeface="Aptos"/>
              </a:defRPr>
            </a:pPr>
            <a:r>
              <a:rPr dirty="0"/>
              <a:t>Responsive forms, accessible navigation, local-language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93392"/>
            <a:ext cx="5257800" cy="98755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510528" y="2103120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B9684F"/>
                </a:solidFill>
                <a:latin typeface="Aptos"/>
              </a:defRPr>
            </a:pPr>
            <a:r>
              <a:rPr dirty="0"/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084832"/>
            <a:ext cx="33375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D32"/>
                </a:solidFill>
                <a:latin typeface="Aptos"/>
              </a:defRPr>
            </a:pPr>
            <a:r>
              <a:rPr dirty="0"/>
              <a:t>Node.js + Express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432304"/>
            <a:ext cx="48006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26A64"/>
                </a:solidFill>
                <a:latin typeface="Aptos"/>
              </a:defRPr>
            </a:pPr>
            <a:r>
              <a:rPr dirty="0"/>
              <a:t>REST APIs, validation, request workflows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27832"/>
            <a:ext cx="5257800" cy="98755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86968" y="3337560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319272"/>
            <a:ext cx="1401346" cy="30469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D32"/>
                </a:solidFill>
                <a:latin typeface="Aptos"/>
              </a:defRPr>
            </a:pPr>
            <a:r>
              <a:rPr lang="en-US" dirty="0"/>
              <a:t>MongoDB Atlas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86968" y="3666744"/>
            <a:ext cx="48006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26A64"/>
                </a:solidFill>
                <a:latin typeface="Aptos"/>
              </a:defRPr>
            </a:pPr>
            <a:r>
              <a:rPr dirty="0"/>
              <a:t>Persisted requests, hospital records and status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227832"/>
            <a:ext cx="5257800" cy="98755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510528" y="3337560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ACCESSIBILITY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319272"/>
            <a:ext cx="33375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D32"/>
                </a:solidFill>
                <a:latin typeface="Aptos"/>
              </a:defRPr>
            </a:pPr>
            <a:r>
              <a:rPr dirty="0"/>
              <a:t>Voice input • Language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66744"/>
            <a:ext cx="48006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26A64"/>
                </a:solidFill>
                <a:latin typeface="Aptos"/>
              </a:defRPr>
            </a:pPr>
            <a:r>
              <a:rPr dirty="0"/>
              <a:t>Browser speech support with text fallback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62272"/>
            <a:ext cx="5257800" cy="98755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86968" y="4572000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B9684F"/>
                </a:solidFill>
                <a:latin typeface="Aptos"/>
              </a:defRPr>
            </a:pPr>
            <a:r>
              <a:rPr dirty="0"/>
              <a:t>LOW CONNECTIVITY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553712"/>
            <a:ext cx="33375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D32"/>
                </a:solidFill>
                <a:latin typeface="Aptos"/>
              </a:defRPr>
            </a:pPr>
            <a:r>
              <a:rPr dirty="0"/>
              <a:t>Service worker • Local drafts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901184"/>
            <a:ext cx="48006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26A64"/>
                </a:solidFill>
                <a:latin typeface="Aptos"/>
              </a:defRPr>
            </a:pPr>
            <a:r>
              <a:rPr dirty="0"/>
              <a:t>Cache essentials and queue eligible requests safely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462272"/>
            <a:ext cx="5257800" cy="98755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6510528" y="4572000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553712"/>
            <a:ext cx="33375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D32"/>
                </a:solidFill>
                <a:latin typeface="Aptos"/>
              </a:defRPr>
            </a:pPr>
            <a:r>
              <a:rPr dirty="0"/>
              <a:t>Free-tier hosting options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901184"/>
            <a:ext cx="48006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26A64"/>
                </a:solidFill>
                <a:latin typeface="Aptos"/>
              </a:defRPr>
            </a:pPr>
            <a:r>
              <a:rPr dirty="0"/>
              <a:t>Frontend, backend and database configured separately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METHODOLOGY &amp;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Methodology &amp;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44752"/>
            <a:ext cx="109728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26A64"/>
                </a:solidFill>
                <a:latin typeface="Aptos"/>
              </a:defRPr>
            </a:pPr>
            <a:r>
              <a:rPr dirty="0"/>
              <a:t>A need-first workflow with clear hand-offs and honest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9339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32104" y="2103120"/>
            <a:ext cx="484632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02536"/>
            <a:ext cx="25603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73D32"/>
                </a:solidFill>
                <a:latin typeface="Aptos"/>
              </a:defRPr>
            </a:pPr>
            <a:r>
              <a:rPr dirty="0"/>
              <a:t>Tell us the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002536"/>
            <a:ext cx="70408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42A27"/>
                </a:solidFill>
                <a:latin typeface="Aptos"/>
              </a:defRPr>
            </a:pPr>
            <a:r>
              <a:rPr dirty="0"/>
              <a:t>User types or speaks in a supported language.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0704" y="2523744"/>
            <a:ext cx="22860" cy="219456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822960" y="2752344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32104" y="2862072"/>
            <a:ext cx="484632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61488"/>
            <a:ext cx="25603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73D32"/>
                </a:solidFill>
                <a:latin typeface="Aptos"/>
              </a:defRPr>
            </a:pPr>
            <a:r>
              <a:rPr dirty="0"/>
              <a:t>Understand &amp; confirm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761488"/>
            <a:ext cx="70408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42A27"/>
                </a:solidFill>
                <a:latin typeface="Aptos"/>
              </a:defRPr>
            </a:pPr>
            <a:r>
              <a:rPr dirty="0"/>
              <a:t>The user reviews the captured request before continuing.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" y="3282696"/>
            <a:ext cx="22860" cy="219456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822960" y="351129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32104" y="3621024"/>
            <a:ext cx="484632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20439"/>
            <a:ext cx="25603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73D32"/>
                </a:solidFill>
                <a:latin typeface="Aptos"/>
              </a:defRPr>
            </a:pPr>
            <a:r>
              <a:rPr dirty="0"/>
              <a:t>Find relevant 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520439"/>
            <a:ext cx="70408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42A27"/>
                </a:solidFill>
                <a:latin typeface="Aptos"/>
              </a:defRPr>
            </a:pPr>
            <a:r>
              <a:rPr dirty="0"/>
              <a:t>Show guidance and hospital records from available sources.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" y="4041648"/>
            <a:ext cx="22860" cy="219456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822960" y="4270248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832104" y="4379976"/>
            <a:ext cx="484632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79392"/>
            <a:ext cx="25603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73D32"/>
                </a:solidFill>
                <a:latin typeface="Aptos"/>
              </a:defRPr>
            </a:pPr>
            <a:r>
              <a:rPr dirty="0"/>
              <a:t>Prepare 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279392"/>
            <a:ext cx="70408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42A27"/>
                </a:solidFill>
                <a:latin typeface="Aptos"/>
              </a:defRPr>
            </a:pPr>
            <a:r>
              <a:rPr dirty="0"/>
              <a:t>Explain likely documents and how to confirm requirements.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0704" y="4800600"/>
            <a:ext cx="22860" cy="219456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822960" y="50292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344A67"/>
          </a:solidFill>
          <a:ln>
            <a:solidFill>
              <a:srgbClr val="344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832104" y="5138928"/>
            <a:ext cx="484632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038344"/>
            <a:ext cx="25603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73D32"/>
                </a:solidFill>
                <a:latin typeface="Aptos"/>
              </a:defRPr>
            </a:pPr>
            <a:r>
              <a:rPr dirty="0"/>
              <a:t>Follow up or get help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5038344"/>
            <a:ext cx="70408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42A27"/>
                </a:solidFill>
                <a:latin typeface="Aptos"/>
              </a:defRPr>
            </a:pPr>
            <a:r>
              <a:rPr dirty="0"/>
              <a:t>Save a request reference and offer a human support route.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989320"/>
            <a:ext cx="10515600" cy="384048"/>
          </a:xfrm>
          <a:prstGeom prst="roundRect">
            <a:avLst>
              <a:gd name="adj" fmla="val 8000"/>
            </a:avLst>
          </a:prstGeom>
          <a:solidFill>
            <a:srgbClr val="F8EEDF"/>
          </a:solidFill>
          <a:ln>
            <a:solidFill>
              <a:srgbClr val="F8E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987552" y="6062472"/>
            <a:ext cx="101498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2A27"/>
                </a:solidFill>
                <a:latin typeface="Aptos"/>
              </a:defRPr>
            </a:pPr>
            <a:r>
              <a:rPr dirty="0"/>
              <a:t>The platform guides users; official channels confirm eligibility, coverage and claim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Questionnaire &amp; Primary Research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017520" cy="19202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849850" y="2267712"/>
            <a:ext cx="689421" cy="53553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~23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246888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rPr dirty="0"/>
              <a:t>responses represented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rPr dirty="0"/>
              <a:t>in the supplied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057400"/>
            <a:ext cx="676656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73D32"/>
                </a:solidFill>
                <a:latin typeface="Aptos"/>
              </a:defRPr>
            </a:pPr>
            <a:r>
              <a:rPr dirty="0"/>
              <a:t>Topics covered by the questionnaire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651760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407407" y="2560320"/>
            <a:ext cx="665683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Basic respondent profile: name, phone number and 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218688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407407" y="3127248"/>
            <a:ext cx="3912546" cy="28931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Previous </a:t>
            </a:r>
            <a:r>
              <a:rPr lang="en-IN" dirty="0"/>
              <a:t>hospitalization</a:t>
            </a:r>
            <a:r>
              <a:rPr dirty="0"/>
              <a:t> and existing health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785615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407407" y="3694176"/>
            <a:ext cx="665683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Awareness of PM-JAY and how respondents heard about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352544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4407407" y="4261104"/>
            <a:ext cx="665683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Ayushman Card ownership and understanding of eligibility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919472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4407407" y="4828032"/>
            <a:ext cx="665683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Interest in applying for the scheme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3559308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1</a:t>
            </a:r>
            <a:r>
              <a:rPr dirty="0"/>
              <a:t>. What is your age?</a:t>
            </a:r>
          </a:p>
        </p:txBody>
      </p:sp>
      <p:pic>
        <p:nvPicPr>
          <p:cNvPr id="8" name="Picture 7" descr="Forms response chart. Question title: What is your Age?. Number of responses: 23 responses.">
            <a:extLst>
              <a:ext uri="{FF2B5EF4-FFF2-40B4-BE49-F238E27FC236}">
                <a16:creationId xmlns:a16="http://schemas.microsoft.com/office/drawing/2014/main" id="{23E8CE86-0AFB-2622-F078-2E86D7BC7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52" y="1664214"/>
            <a:ext cx="9141904" cy="43402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6170985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2</a:t>
            </a:r>
            <a:r>
              <a:rPr dirty="0"/>
              <a:t>. Have you ever been hospitali</a:t>
            </a:r>
            <a:r>
              <a:rPr lang="en-US" dirty="0"/>
              <a:t>z</a:t>
            </a:r>
            <a:r>
              <a:rPr dirty="0"/>
              <a:t>ed?</a:t>
            </a:r>
          </a:p>
        </p:txBody>
      </p:sp>
      <p:pic>
        <p:nvPicPr>
          <p:cNvPr id="8" name="Picture 7" descr="Forms response chart. Question title: Have You ever hospitalized?. Number of responses: 23 responses.">
            <a:extLst>
              <a:ext uri="{FF2B5EF4-FFF2-40B4-BE49-F238E27FC236}">
                <a16:creationId xmlns:a16="http://schemas.microsoft.com/office/drawing/2014/main" id="{0D54E1BB-9BCF-B2A4-C75D-A625D6F93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52" y="1736927"/>
            <a:ext cx="9141904" cy="38413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5716821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3</a:t>
            </a:r>
            <a:r>
              <a:rPr dirty="0"/>
              <a:t>. Do you have any health policy?</a:t>
            </a:r>
          </a:p>
        </p:txBody>
      </p:sp>
      <p:pic>
        <p:nvPicPr>
          <p:cNvPr id="8" name="Picture 7" descr="Forms response chart. Question title: Do you Have Any Health Policy?. Number of responses: 23 responses.">
            <a:extLst>
              <a:ext uri="{FF2B5EF4-FFF2-40B4-BE49-F238E27FC236}">
                <a16:creationId xmlns:a16="http://schemas.microsoft.com/office/drawing/2014/main" id="{7E6252D6-647F-3393-9FB5-6ECD8EB2D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50" y="1662380"/>
            <a:ext cx="9141904" cy="38413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5682133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4</a:t>
            </a:r>
            <a:r>
              <a:rPr dirty="0"/>
              <a:t>. Have you heard about PM-JAY?</a:t>
            </a:r>
          </a:p>
        </p:txBody>
      </p:sp>
      <p:pic>
        <p:nvPicPr>
          <p:cNvPr id="8" name="Picture 7" descr="Forms response chart. Question title: Have you heard about the  Pradhan Mantri Jan Ayog Yojna  PM-JAY (Ayushman Bharat) scheme?. Number of responses: 23 responses.">
            <a:extLst>
              <a:ext uri="{FF2B5EF4-FFF2-40B4-BE49-F238E27FC236}">
                <a16:creationId xmlns:a16="http://schemas.microsoft.com/office/drawing/2014/main" id="{0898E613-7E0D-249F-694B-5443DBB12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52" y="1664214"/>
            <a:ext cx="9141904" cy="38413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9268884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5</a:t>
            </a:r>
            <a:r>
              <a:rPr dirty="0"/>
              <a:t>. Does anyone in your family have an Ayushman Card?</a:t>
            </a:r>
          </a:p>
        </p:txBody>
      </p:sp>
      <p:pic>
        <p:nvPicPr>
          <p:cNvPr id="8" name="Picture 7" descr="Forms response chart. Question title: Do you or anyone in your family have an Ayushman Card?. Number of responses: 23 responses.">
            <a:extLst>
              <a:ext uri="{FF2B5EF4-FFF2-40B4-BE49-F238E27FC236}">
                <a16:creationId xmlns:a16="http://schemas.microsoft.com/office/drawing/2014/main" id="{5D9B3C99-9935-E7BB-6E00-D51E6AD1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52" y="1662380"/>
            <a:ext cx="9141904" cy="38413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6700424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6</a:t>
            </a:r>
            <a:r>
              <a:rPr dirty="0"/>
              <a:t>. How did you first hear about PM-JAY?</a:t>
            </a:r>
          </a:p>
        </p:txBody>
      </p:sp>
      <p:pic>
        <p:nvPicPr>
          <p:cNvPr id="8" name="Picture 7" descr="Forms response chart. Question title: How did you first hear about Pradhan Mantri Jan Ayog Yojna PM-JAY Scheme?. Number of responses: 23 responses.">
            <a:extLst>
              <a:ext uri="{FF2B5EF4-FFF2-40B4-BE49-F238E27FC236}">
                <a16:creationId xmlns:a16="http://schemas.microsoft.com/office/drawing/2014/main" id="{C76B13C3-7A57-D7A9-0DFF-D26FBDECC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52" y="1664214"/>
            <a:ext cx="9141904" cy="38413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Q9. Do you know if you are eligible for PM-JAY?</a:t>
            </a:r>
          </a:p>
        </p:txBody>
      </p:sp>
      <p:pic>
        <p:nvPicPr>
          <p:cNvPr id="8" name="Picture 7" descr="Forms response chart. Question title: Do you Know if you are eligible for PM-JAY Benificiary Scheme?. Number of responses: 23 responses.">
            <a:extLst>
              <a:ext uri="{FF2B5EF4-FFF2-40B4-BE49-F238E27FC236}">
                <a16:creationId xmlns:a16="http://schemas.microsoft.com/office/drawing/2014/main" id="{55F5C525-0BA3-F8B8-FADC-C7CF6E7FC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50" y="1662380"/>
            <a:ext cx="9141904" cy="38413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7203447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Q10. Do you wish to apply for this scheme? </a:t>
            </a:r>
          </a:p>
        </p:txBody>
      </p:sp>
      <p:pic>
        <p:nvPicPr>
          <p:cNvPr id="8" name="Picture 7" descr="Forms response chart. Question title: Do you wish to apply for this scheme?. Number of responses: 23 responses.">
            <a:extLst>
              <a:ext uri="{FF2B5EF4-FFF2-40B4-BE49-F238E27FC236}">
                <a16:creationId xmlns:a16="http://schemas.microsoft.com/office/drawing/2014/main" id="{7D5924A3-ABB7-80E7-7A94-38831DDBB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50" y="1664214"/>
            <a:ext cx="9141904" cy="38413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7129709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Q10. Do you wish to apply for this scheme?</a:t>
            </a:r>
          </a:p>
        </p:txBody>
      </p:sp>
      <p:pic>
        <p:nvPicPr>
          <p:cNvPr id="8" name="Picture 7" descr="Forms response chart. Question title: Do you Know the Benefits of this Scheme?. Number of responses: 23 responses.">
            <a:extLst>
              <a:ext uri="{FF2B5EF4-FFF2-40B4-BE49-F238E27FC236}">
                <a16:creationId xmlns:a16="http://schemas.microsoft.com/office/drawing/2014/main" id="{09400A00-97FB-1FF6-7F16-3FB996831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50" y="1664214"/>
            <a:ext cx="9141904" cy="38413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F07BD-4FD7-7FA9-C309-41C628230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4A6C34-88B8-8BCE-1678-691893293870}"/>
              </a:ext>
            </a:extLst>
          </p:cNvPr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779A0E-3B5C-5D02-4826-1C9835CB9CCD}"/>
              </a:ext>
            </a:extLst>
          </p:cNvPr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3D9429-F227-A98F-5BC3-ED8793B8EEDB}"/>
              </a:ext>
            </a:extLst>
          </p:cNvPr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B190CB-5334-BE33-97F9-C06501D6B1EA}"/>
              </a:ext>
            </a:extLst>
          </p:cNvPr>
          <p:cNvSpPr txBox="1"/>
          <p:nvPr/>
        </p:nvSpPr>
        <p:spPr>
          <a:xfrm>
            <a:off x="594360" y="914400"/>
            <a:ext cx="11466152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Q1</a:t>
            </a:r>
            <a:r>
              <a:rPr lang="en-US" dirty="0"/>
              <a:t>1</a:t>
            </a:r>
            <a:r>
              <a:rPr dirty="0"/>
              <a:t>. </a:t>
            </a:r>
            <a:r>
              <a:rPr lang="en-IN" sz="2800" dirty="0">
                <a:solidFill>
                  <a:srgbClr val="173D32"/>
                </a:solidFill>
                <a:latin typeface="Aptos"/>
              </a:rPr>
              <a:t>Do you know which hospitals in or near your area accept PM-JAY?</a:t>
            </a:r>
            <a:endParaRPr dirty="0"/>
          </a:p>
        </p:txBody>
      </p:sp>
      <p:pic>
        <p:nvPicPr>
          <p:cNvPr id="6" name="Picture 5" descr="Forms response chart. Question title: Do you know which hospitals in or near your area accept PM-JAY?. Number of responses: 23 responses.">
            <a:extLst>
              <a:ext uri="{FF2B5EF4-FFF2-40B4-BE49-F238E27FC236}">
                <a16:creationId xmlns:a16="http://schemas.microsoft.com/office/drawing/2014/main" id="{97368FF7-898A-B1FD-84EB-EF2D3D2D0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52" y="1664214"/>
            <a:ext cx="9141904" cy="384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007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2AAEAA-D6B1-6AD4-BDED-07E80DF7C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909695-367D-319C-8DDE-41E9F7F92DE1}"/>
              </a:ext>
            </a:extLst>
          </p:cNvPr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QUESTIONNAIRE • RESPONSE CHARTS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7CADF4-631C-ED53-86C9-5455DE1799DE}"/>
              </a:ext>
            </a:extLst>
          </p:cNvPr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09BF17-5B76-8403-3E63-42FBF9DDD2EF}"/>
              </a:ext>
            </a:extLst>
          </p:cNvPr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692A0E-E53B-8AD7-F18A-893EA260143F}"/>
              </a:ext>
            </a:extLst>
          </p:cNvPr>
          <p:cNvSpPr txBox="1"/>
          <p:nvPr/>
        </p:nvSpPr>
        <p:spPr>
          <a:xfrm>
            <a:off x="594360" y="914400"/>
            <a:ext cx="10473893" cy="101258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Q1</a:t>
            </a:r>
            <a:r>
              <a:rPr lang="en-US" dirty="0"/>
              <a:t>1</a:t>
            </a:r>
            <a:r>
              <a:rPr dirty="0"/>
              <a:t>. </a:t>
            </a:r>
            <a:r>
              <a:rPr lang="en-IN" sz="2800" dirty="0">
                <a:solidFill>
                  <a:srgbClr val="173D32"/>
                </a:solidFill>
                <a:latin typeface="Aptos"/>
              </a:rPr>
              <a:t>What prevents you or people in your community from using</a:t>
            </a:r>
          </a:p>
          <a:p>
            <a:pPr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lang="en-IN" sz="2800" dirty="0">
                <a:solidFill>
                  <a:srgbClr val="173D32"/>
                </a:solidFill>
                <a:latin typeface="Aptos"/>
              </a:rPr>
              <a:t> PM-JAY benefits?</a:t>
            </a:r>
            <a:endParaRPr dirty="0"/>
          </a:p>
        </p:txBody>
      </p:sp>
      <p:pic>
        <p:nvPicPr>
          <p:cNvPr id="9" name="Picture 8" descr="Forms response chart. Question title: What prevents you or people in your community from using PM-JAY benefits?. Number of responses: 23 responses.">
            <a:extLst>
              <a:ext uri="{FF2B5EF4-FFF2-40B4-BE49-F238E27FC236}">
                <a16:creationId xmlns:a16="http://schemas.microsoft.com/office/drawing/2014/main" id="{1144EDD0-2ABF-CEE6-C0C3-7C46EFB73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52" y="2172045"/>
            <a:ext cx="9141904" cy="384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04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557E0-F403-794A-204F-01B7C3E4D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8CFA05-2391-A0CB-24EC-3718ED0BE886}"/>
              </a:ext>
            </a:extLst>
          </p:cNvPr>
          <p:cNvSpPr txBox="1"/>
          <p:nvPr/>
        </p:nvSpPr>
        <p:spPr>
          <a:xfrm>
            <a:off x="530352" y="274320"/>
            <a:ext cx="80467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t>PM-JAY CLAIM GPS  /  QUESTIONNAIRE • 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A641B7-787E-0743-0818-02AF0AB816A5}"/>
              </a:ext>
            </a:extLst>
          </p:cNvPr>
          <p:cNvSpPr/>
          <p:nvPr/>
        </p:nvSpPr>
        <p:spPr>
          <a:xfrm>
            <a:off x="512064" y="658368"/>
            <a:ext cx="11155680" cy="16459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DF5FF9-C5D3-46C3-390D-6C05D6A4D5B2}"/>
              </a:ext>
            </a:extLst>
          </p:cNvPr>
          <p:cNvSpPr txBox="1"/>
          <p:nvPr/>
        </p:nvSpPr>
        <p:spPr>
          <a:xfrm>
            <a:off x="621792" y="1050134"/>
            <a:ext cx="1097280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Survey Analysis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2EC5063F-40BC-6B83-E36B-B89378A1D124}"/>
              </a:ext>
            </a:extLst>
          </p:cNvPr>
          <p:cNvSpPr/>
          <p:nvPr/>
        </p:nvSpPr>
        <p:spPr>
          <a:xfrm>
            <a:off x="685800" y="1965960"/>
            <a:ext cx="3337560" cy="1417320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0948C0-F29C-F099-75F9-81F9A0FA5C79}"/>
              </a:ext>
            </a:extLst>
          </p:cNvPr>
          <p:cNvSpPr txBox="1"/>
          <p:nvPr/>
        </p:nvSpPr>
        <p:spPr>
          <a:xfrm>
            <a:off x="896112" y="2148840"/>
            <a:ext cx="960120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245747"/>
                </a:solidFill>
                <a:latin typeface="Aptos"/>
              </a:defRPr>
            </a:pPr>
            <a:r>
              <a:t>52%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6794B0-9562-46B1-3F15-E1FC720B3DEA}"/>
              </a:ext>
            </a:extLst>
          </p:cNvPr>
          <p:cNvSpPr txBox="1"/>
          <p:nvPr/>
        </p:nvSpPr>
        <p:spPr>
          <a:xfrm>
            <a:off x="1783080" y="2167128"/>
            <a:ext cx="1552733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73D32"/>
                </a:solidFill>
                <a:latin typeface="Aptos"/>
              </a:defRPr>
            </a:pPr>
            <a:r>
              <a:rPr lang="en-US" dirty="0"/>
              <a:t>H</a:t>
            </a:r>
            <a:r>
              <a:rPr dirty="0"/>
              <a:t>ave heard of PM-JAY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6E9F50-33C4-6CC6-F50B-C10AC59957E4}"/>
              </a:ext>
            </a:extLst>
          </p:cNvPr>
          <p:cNvSpPr txBox="1"/>
          <p:nvPr/>
        </p:nvSpPr>
        <p:spPr>
          <a:xfrm>
            <a:off x="896112" y="2798064"/>
            <a:ext cx="29169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26A64"/>
                </a:solidFill>
                <a:latin typeface="Aptos"/>
              </a:defRPr>
            </a:pPr>
            <a:r>
              <a:t>12 of 23 answered Yes; 7 Maybe; 4 No.</a:t>
            </a:r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A517D76B-5D8F-8868-F5A1-9F30519A51AF}"/>
              </a:ext>
            </a:extLst>
          </p:cNvPr>
          <p:cNvSpPr/>
          <p:nvPr/>
        </p:nvSpPr>
        <p:spPr>
          <a:xfrm>
            <a:off x="4443984" y="1965960"/>
            <a:ext cx="3337560" cy="1417320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30F7A3-438D-53E4-DA12-483D677DC80E}"/>
              </a:ext>
            </a:extLst>
          </p:cNvPr>
          <p:cNvSpPr txBox="1"/>
          <p:nvPr/>
        </p:nvSpPr>
        <p:spPr>
          <a:xfrm>
            <a:off x="4654296" y="2148840"/>
            <a:ext cx="960120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245747"/>
                </a:solidFill>
                <a:latin typeface="Aptos"/>
              </a:defRPr>
            </a:pPr>
            <a:r>
              <a:t>65%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BECACA-A562-FCB9-C2FC-2FFE8AB38077}"/>
              </a:ext>
            </a:extLst>
          </p:cNvPr>
          <p:cNvSpPr txBox="1"/>
          <p:nvPr/>
        </p:nvSpPr>
        <p:spPr>
          <a:xfrm>
            <a:off x="5541264" y="2167128"/>
            <a:ext cx="1955087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73D32"/>
                </a:solidFill>
                <a:latin typeface="Aptos"/>
              </a:defRPr>
            </a:pPr>
            <a:r>
              <a:rPr lang="en-US" dirty="0"/>
              <a:t>D</a:t>
            </a:r>
            <a:r>
              <a:rPr dirty="0"/>
              <a:t>o not know their eligibility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5EC22D-EA00-A351-BEC6-FBCBC9AAF992}"/>
              </a:ext>
            </a:extLst>
          </p:cNvPr>
          <p:cNvSpPr txBox="1"/>
          <p:nvPr/>
        </p:nvSpPr>
        <p:spPr>
          <a:xfrm>
            <a:off x="4654296" y="2798064"/>
            <a:ext cx="29169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26A64"/>
                </a:solidFill>
                <a:latin typeface="Aptos"/>
              </a:defRPr>
            </a:pPr>
            <a:r>
              <a:t>15 respondents answered No; 8 answered Yes.</a:t>
            </a:r>
          </a:p>
        </p:txBody>
      </p:sp>
      <p:sp>
        <p:nvSpPr>
          <p:cNvPr id="32" name="Rounded Rectangle 13">
            <a:extLst>
              <a:ext uri="{FF2B5EF4-FFF2-40B4-BE49-F238E27FC236}">
                <a16:creationId xmlns:a16="http://schemas.microsoft.com/office/drawing/2014/main" id="{31B4F6A4-B4A7-7E82-543A-EBBAF4CF701B}"/>
              </a:ext>
            </a:extLst>
          </p:cNvPr>
          <p:cNvSpPr/>
          <p:nvPr/>
        </p:nvSpPr>
        <p:spPr>
          <a:xfrm>
            <a:off x="8202168" y="1965960"/>
            <a:ext cx="3337560" cy="1417320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7B8839-CB9C-F867-2FFE-E67780607E69}"/>
              </a:ext>
            </a:extLst>
          </p:cNvPr>
          <p:cNvSpPr txBox="1"/>
          <p:nvPr/>
        </p:nvSpPr>
        <p:spPr>
          <a:xfrm>
            <a:off x="8412480" y="2148840"/>
            <a:ext cx="960120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245747"/>
                </a:solidFill>
                <a:latin typeface="Aptos"/>
              </a:defRPr>
            </a:pPr>
            <a:r>
              <a:t>74%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80F85B-44B2-75B6-A9BF-3B677BF0A49F}"/>
              </a:ext>
            </a:extLst>
          </p:cNvPr>
          <p:cNvSpPr txBox="1"/>
          <p:nvPr/>
        </p:nvSpPr>
        <p:spPr>
          <a:xfrm>
            <a:off x="9299448" y="2167128"/>
            <a:ext cx="2039112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73D32"/>
                </a:solidFill>
                <a:latin typeface="Aptos"/>
              </a:defRPr>
            </a:pPr>
            <a:r>
              <a:t>wish to apply for PM-JAY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F94418-ABB9-4061-7170-8B4422B0CBB4}"/>
              </a:ext>
            </a:extLst>
          </p:cNvPr>
          <p:cNvSpPr txBox="1"/>
          <p:nvPr/>
        </p:nvSpPr>
        <p:spPr>
          <a:xfrm>
            <a:off x="8412480" y="2798064"/>
            <a:ext cx="29169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26A64"/>
                </a:solidFill>
                <a:latin typeface="Aptos"/>
              </a:defRPr>
            </a:pPr>
            <a:r>
              <a:t>17 answered Yes; 6 answered No.</a:t>
            </a:r>
          </a:p>
        </p:txBody>
      </p:sp>
      <p:sp>
        <p:nvSpPr>
          <p:cNvPr id="40" name="Rounded Rectangle 17">
            <a:extLst>
              <a:ext uri="{FF2B5EF4-FFF2-40B4-BE49-F238E27FC236}">
                <a16:creationId xmlns:a16="http://schemas.microsoft.com/office/drawing/2014/main" id="{15BAB485-7302-216A-B285-95F6CA3D2E94}"/>
              </a:ext>
            </a:extLst>
          </p:cNvPr>
          <p:cNvSpPr/>
          <p:nvPr/>
        </p:nvSpPr>
        <p:spPr>
          <a:xfrm>
            <a:off x="685800" y="3703320"/>
            <a:ext cx="3337560" cy="1417320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F51ADE-EB3B-07ED-81B6-09A41B93E2CF}"/>
              </a:ext>
            </a:extLst>
          </p:cNvPr>
          <p:cNvSpPr txBox="1"/>
          <p:nvPr/>
        </p:nvSpPr>
        <p:spPr>
          <a:xfrm>
            <a:off x="896112" y="3886200"/>
            <a:ext cx="960120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245747"/>
                </a:solidFill>
                <a:latin typeface="Aptos"/>
              </a:defRPr>
            </a:pPr>
            <a:r>
              <a:rPr dirty="0"/>
              <a:t>70%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D6A944-3EE2-C9CC-C469-9EE96B9B6C7E}"/>
              </a:ext>
            </a:extLst>
          </p:cNvPr>
          <p:cNvSpPr txBox="1"/>
          <p:nvPr/>
        </p:nvSpPr>
        <p:spPr>
          <a:xfrm>
            <a:off x="1783080" y="3904487"/>
            <a:ext cx="1810817" cy="4503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73D32"/>
                </a:solidFill>
                <a:latin typeface="Aptos"/>
              </a:defRPr>
            </a:pPr>
            <a:r>
              <a:rPr lang="en-US" dirty="0"/>
              <a:t>D</a:t>
            </a:r>
            <a:r>
              <a:rPr dirty="0"/>
              <a:t>o not know the scheme </a:t>
            </a:r>
            <a:endParaRPr lang="en-US" dirty="0"/>
          </a:p>
          <a:p>
            <a:pPr algn="l">
              <a:spcAft>
                <a:spcPts val="200"/>
              </a:spcAft>
              <a:defRPr sz="1200" b="1">
                <a:solidFill>
                  <a:srgbClr val="173D32"/>
                </a:solidFill>
                <a:latin typeface="Aptos"/>
              </a:defRPr>
            </a:pPr>
            <a:r>
              <a:rPr dirty="0"/>
              <a:t>benefits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8A7537-0729-2B81-BFEF-EF05DA2207A2}"/>
              </a:ext>
            </a:extLst>
          </p:cNvPr>
          <p:cNvSpPr txBox="1"/>
          <p:nvPr/>
        </p:nvSpPr>
        <p:spPr>
          <a:xfrm>
            <a:off x="896112" y="4535424"/>
            <a:ext cx="29169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26A64"/>
                </a:solidFill>
                <a:latin typeface="Aptos"/>
              </a:defRPr>
            </a:pPr>
            <a:r>
              <a:t>16 answered No; 6 Yes; 1 Maybe.</a:t>
            </a:r>
          </a:p>
        </p:txBody>
      </p:sp>
      <p:sp>
        <p:nvSpPr>
          <p:cNvPr id="48" name="Rounded Rectangle 21">
            <a:extLst>
              <a:ext uri="{FF2B5EF4-FFF2-40B4-BE49-F238E27FC236}">
                <a16:creationId xmlns:a16="http://schemas.microsoft.com/office/drawing/2014/main" id="{08BDE061-AEE8-D46C-7EBC-F7D1506AEB3F}"/>
              </a:ext>
            </a:extLst>
          </p:cNvPr>
          <p:cNvSpPr/>
          <p:nvPr/>
        </p:nvSpPr>
        <p:spPr>
          <a:xfrm>
            <a:off x="4443984" y="3703320"/>
            <a:ext cx="3337560" cy="1417320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B54832-CD57-EF3D-3DC7-A3835C040EF4}"/>
              </a:ext>
            </a:extLst>
          </p:cNvPr>
          <p:cNvSpPr txBox="1"/>
          <p:nvPr/>
        </p:nvSpPr>
        <p:spPr>
          <a:xfrm>
            <a:off x="4654296" y="3886200"/>
            <a:ext cx="960120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245747"/>
                </a:solidFill>
                <a:latin typeface="Aptos"/>
              </a:defRPr>
            </a:pPr>
            <a:r>
              <a:t>65%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1C8504-F2FB-1FDD-92D7-BD4FFE5EF2F2}"/>
              </a:ext>
            </a:extLst>
          </p:cNvPr>
          <p:cNvSpPr txBox="1"/>
          <p:nvPr/>
        </p:nvSpPr>
        <p:spPr>
          <a:xfrm>
            <a:off x="5541264" y="3904487"/>
            <a:ext cx="2002343" cy="4503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73D32"/>
                </a:solidFill>
                <a:latin typeface="Aptos"/>
              </a:defRPr>
            </a:pPr>
            <a:r>
              <a:rPr lang="en-US" dirty="0"/>
              <a:t>D</a:t>
            </a:r>
            <a:r>
              <a:rPr dirty="0"/>
              <a:t>o not know nearby PM-JAY </a:t>
            </a:r>
            <a:endParaRPr lang="en-US" dirty="0"/>
          </a:p>
          <a:p>
            <a:pPr algn="l">
              <a:spcAft>
                <a:spcPts val="200"/>
              </a:spcAft>
              <a:defRPr sz="1200" b="1">
                <a:solidFill>
                  <a:srgbClr val="173D32"/>
                </a:solidFill>
                <a:latin typeface="Aptos"/>
              </a:defRPr>
            </a:pPr>
            <a:r>
              <a:rPr dirty="0"/>
              <a:t>hospitals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59FA11-0793-4251-5A1B-D90C4D7170F5}"/>
              </a:ext>
            </a:extLst>
          </p:cNvPr>
          <p:cNvSpPr txBox="1"/>
          <p:nvPr/>
        </p:nvSpPr>
        <p:spPr>
          <a:xfrm>
            <a:off x="4654296" y="4535424"/>
            <a:ext cx="29169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26A64"/>
                </a:solidFill>
                <a:latin typeface="Aptos"/>
              </a:defRPr>
            </a:pPr>
            <a:r>
              <a:t>15 answered No; 6 Yes; 2 Maybe.</a:t>
            </a:r>
          </a:p>
        </p:txBody>
      </p:sp>
      <p:sp>
        <p:nvSpPr>
          <p:cNvPr id="56" name="Rounded Rectangle 25">
            <a:extLst>
              <a:ext uri="{FF2B5EF4-FFF2-40B4-BE49-F238E27FC236}">
                <a16:creationId xmlns:a16="http://schemas.microsoft.com/office/drawing/2014/main" id="{9CF20D3C-F8EA-1A57-1AE0-B4FEBE565D26}"/>
              </a:ext>
            </a:extLst>
          </p:cNvPr>
          <p:cNvSpPr/>
          <p:nvPr/>
        </p:nvSpPr>
        <p:spPr>
          <a:xfrm>
            <a:off x="8202168" y="3703320"/>
            <a:ext cx="3337560" cy="1417320"/>
          </a:xfrm>
          <a:prstGeom prst="roundRect">
            <a:avLst>
              <a:gd name="adj" fmla="val 6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C582C2-8C09-3561-EB58-6949254BA036}"/>
              </a:ext>
            </a:extLst>
          </p:cNvPr>
          <p:cNvSpPr txBox="1"/>
          <p:nvPr/>
        </p:nvSpPr>
        <p:spPr>
          <a:xfrm>
            <a:off x="8412480" y="3886200"/>
            <a:ext cx="960120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245747"/>
                </a:solidFill>
                <a:latin typeface="Aptos"/>
              </a:defRPr>
            </a:pPr>
            <a:r>
              <a:t>48%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29D81C-3316-2ED8-9F9B-7664601ECCB8}"/>
              </a:ext>
            </a:extLst>
          </p:cNvPr>
          <p:cNvSpPr txBox="1"/>
          <p:nvPr/>
        </p:nvSpPr>
        <p:spPr>
          <a:xfrm>
            <a:off x="9235566" y="3969585"/>
            <a:ext cx="2166875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73D32"/>
                </a:solidFill>
                <a:latin typeface="Aptos"/>
              </a:defRPr>
            </a:pPr>
            <a:r>
              <a:rPr lang="en-US" dirty="0"/>
              <a:t>L</a:t>
            </a:r>
            <a:r>
              <a:rPr dirty="0"/>
              <a:t>ack of awareness as a barrier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D02F83-B68B-F107-BCE0-0204D4E96BA5}"/>
              </a:ext>
            </a:extLst>
          </p:cNvPr>
          <p:cNvSpPr txBox="1"/>
          <p:nvPr/>
        </p:nvSpPr>
        <p:spPr>
          <a:xfrm>
            <a:off x="8412480" y="4535424"/>
            <a:ext cx="29169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26A64"/>
                </a:solidFill>
                <a:latin typeface="Aptos"/>
              </a:defRPr>
            </a:pPr>
            <a:r>
              <a:t>11 respondents selected lack of awareness.</a:t>
            </a:r>
          </a:p>
        </p:txBody>
      </p:sp>
      <p:sp>
        <p:nvSpPr>
          <p:cNvPr id="64" name="Rounded Rectangle 29">
            <a:extLst>
              <a:ext uri="{FF2B5EF4-FFF2-40B4-BE49-F238E27FC236}">
                <a16:creationId xmlns:a16="http://schemas.microsoft.com/office/drawing/2014/main" id="{0C948527-4185-CA78-2133-BF22FFE6CF81}"/>
              </a:ext>
            </a:extLst>
          </p:cNvPr>
          <p:cNvSpPr/>
          <p:nvPr/>
        </p:nvSpPr>
        <p:spPr>
          <a:xfrm>
            <a:off x="713232" y="5532120"/>
            <a:ext cx="10808208" cy="658368"/>
          </a:xfrm>
          <a:prstGeom prst="roundRect">
            <a:avLst>
              <a:gd name="adj" fmla="val 6000"/>
            </a:avLst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D53D6BF-6C55-EB67-4BC4-9E1672AC56AE}"/>
              </a:ext>
            </a:extLst>
          </p:cNvPr>
          <p:cNvSpPr txBox="1"/>
          <p:nvPr/>
        </p:nvSpPr>
        <p:spPr>
          <a:xfrm>
            <a:off x="896112" y="5650992"/>
            <a:ext cx="10442448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42A27"/>
                </a:solidFill>
                <a:latin typeface="Aptos"/>
              </a:defRPr>
            </a:pPr>
            <a:r>
              <a:t>Interpretation: interest is high (74%), while eligibility, benefit awareness and hospital knowledge remain key gaps. This supports a simple, need-first guidance flow.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18D3F76-9BBD-5C8B-5926-EFCEF46B7E82}"/>
              </a:ext>
            </a:extLst>
          </p:cNvPr>
          <p:cNvSpPr txBox="1"/>
          <p:nvPr/>
        </p:nvSpPr>
        <p:spPr>
          <a:xfrm>
            <a:off x="11137392" y="6510528"/>
            <a:ext cx="365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725508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231234" cy="22775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Prototype Screenshots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212080" cy="361188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75488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245747"/>
                </a:solidFill>
                <a:latin typeface="Aptos"/>
              </a:defRPr>
            </a:pPr>
            <a:r>
              <a:rPr dirty="0"/>
              <a:t>HOME / LANDING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212080" cy="361188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621422" y="2121408"/>
            <a:ext cx="2405082" cy="3354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245747"/>
                </a:solidFill>
                <a:latin typeface="Aptos"/>
              </a:defRPr>
            </a:pPr>
            <a:r>
              <a:rPr lang="en-US" dirty="0"/>
              <a:t>DOCUMENT GUIDANCE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537959" y="2578608"/>
            <a:ext cx="4572000" cy="2788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626A64"/>
                </a:solidFill>
                <a:latin typeface="Aptos"/>
              </a:defRPr>
            </a:pPr>
            <a:r>
              <a:rPr dirty="0"/>
              <a:t>Insert screenshot of the healthcare need form.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4427B4-B83F-0996-F0F1-45C91F1FEAF1}"/>
              </a:ext>
            </a:extLst>
          </p:cNvPr>
          <p:cNvSpPr/>
          <p:nvPr/>
        </p:nvSpPr>
        <p:spPr>
          <a:xfrm>
            <a:off x="731520" y="2578609"/>
            <a:ext cx="5242561" cy="295351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6B20A2-E3C1-EE24-A2A6-1522CA12161D}"/>
              </a:ext>
            </a:extLst>
          </p:cNvPr>
          <p:cNvSpPr/>
          <p:nvPr/>
        </p:nvSpPr>
        <p:spPr>
          <a:xfrm>
            <a:off x="6217919" y="2578608"/>
            <a:ext cx="5242561" cy="295351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Prototype Workflow &amp;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429000" cy="361188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9718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245747"/>
                </a:solidFill>
                <a:latin typeface="Aptos"/>
              </a:defRPr>
            </a:pPr>
            <a:r>
              <a:rPr dirty="0"/>
              <a:t>HOSPITAL FINDER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429000" cy="361188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617720" y="2121408"/>
            <a:ext cx="29718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245747"/>
                </a:solidFill>
                <a:latin typeface="Aptos"/>
              </a:defRPr>
            </a:pPr>
            <a:r>
              <a:rPr dirty="0"/>
              <a:t>REQUEST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429000" cy="361188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275320" y="2121408"/>
            <a:ext cx="29718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245747"/>
                </a:solidFill>
                <a:latin typeface="Aptos"/>
              </a:defRPr>
            </a:pPr>
            <a:r>
              <a:rPr dirty="0"/>
              <a:t>HUMAN ASSISTANCE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6A642D-810E-0031-EDE5-4F49E10B9341}"/>
              </a:ext>
            </a:extLst>
          </p:cNvPr>
          <p:cNvSpPr txBox="1"/>
          <p:nvPr/>
        </p:nvSpPr>
        <p:spPr>
          <a:xfrm>
            <a:off x="502920" y="256032"/>
            <a:ext cx="1231234" cy="22775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</a:t>
            </a:r>
          </a:p>
        </p:txBody>
      </p:sp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82FA4E04-152F-5FF5-BC62-535498D7D050}"/>
              </a:ext>
            </a:extLst>
          </p:cNvPr>
          <p:cNvSpPr/>
          <p:nvPr/>
        </p:nvSpPr>
        <p:spPr>
          <a:xfrm>
            <a:off x="731520" y="2587752"/>
            <a:ext cx="3429000" cy="2944368"/>
          </a:xfrm>
          <a:prstGeom prst="roundRect">
            <a:avLst>
              <a:gd name="adj" fmla="val 8000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FAA2B7DE-C1AA-E086-B613-159CFEF89341}"/>
              </a:ext>
            </a:extLst>
          </p:cNvPr>
          <p:cNvSpPr/>
          <p:nvPr/>
        </p:nvSpPr>
        <p:spPr>
          <a:xfrm>
            <a:off x="8046720" y="2587752"/>
            <a:ext cx="3429000" cy="2944368"/>
          </a:xfrm>
          <a:prstGeom prst="roundRect">
            <a:avLst>
              <a:gd name="adj" fmla="val 800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6F39EA42-693B-15CE-43DC-B8883DA006FB}"/>
              </a:ext>
            </a:extLst>
          </p:cNvPr>
          <p:cNvSpPr/>
          <p:nvPr/>
        </p:nvSpPr>
        <p:spPr>
          <a:xfrm>
            <a:off x="4389120" y="2587752"/>
            <a:ext cx="3429000" cy="2944368"/>
          </a:xfrm>
          <a:prstGeom prst="roundRect">
            <a:avLst>
              <a:gd name="adj" fmla="val 8000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OUTCOME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Outcome and 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212080" cy="3474720"/>
          </a:xfrm>
          <a:prstGeom prst="roundRect">
            <a:avLst>
              <a:gd name="adj" fmla="val 8000"/>
            </a:avLst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05840" y="2267712"/>
            <a:ext cx="45720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45747"/>
                </a:solidFill>
                <a:latin typeface="Aptos"/>
              </a:defRPr>
            </a:pPr>
            <a:r>
              <a:rPr dirty="0"/>
              <a:t>EXPECTED OUTCOME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834640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207008" y="2743200"/>
            <a:ext cx="432511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Make the next step easier to understand.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401568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207008" y="3310128"/>
            <a:ext cx="432511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Help users locate relevant hospital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968496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207008" y="3877056"/>
            <a:ext cx="432511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Provide clear document and assistance guidance.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535424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207008" y="4443984"/>
            <a:ext cx="432511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42A27"/>
                </a:solidFill>
                <a:latin typeface="Aptos"/>
              </a:defRPr>
            </a:pPr>
            <a:r>
              <a:rPr dirty="0"/>
              <a:t>Offer a low-connectivity and human-help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65960"/>
            <a:ext cx="5212080" cy="347472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492240" y="2267712"/>
            <a:ext cx="45720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B9684F"/>
                </a:solidFill>
                <a:latin typeface="Aptos"/>
              </a:defRPr>
            </a:pPr>
            <a:r>
              <a:rPr dirty="0"/>
              <a:t>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43200"/>
            <a:ext cx="4779706" cy="193591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242A27"/>
                </a:solidFill>
                <a:latin typeface="Aptos"/>
              </a:defRPr>
            </a:pPr>
            <a:r>
              <a:rPr dirty="0"/>
              <a:t>The questionnaire points to a practical need for </a:t>
            </a:r>
            <a:endParaRPr lang="en-US" dirty="0"/>
          </a:p>
          <a:p>
            <a:pPr algn="l">
              <a:spcAft>
                <a:spcPts val="600"/>
              </a:spcAft>
              <a:defRPr sz="1600" b="0">
                <a:solidFill>
                  <a:srgbClr val="242A27"/>
                </a:solidFill>
                <a:latin typeface="Aptos"/>
              </a:defRPr>
            </a:pPr>
            <a:r>
              <a:rPr dirty="0"/>
              <a:t>clearer PM-JAY guidance. Claim GPS proposes a </a:t>
            </a:r>
            <a:endParaRPr lang="en-US" dirty="0"/>
          </a:p>
          <a:p>
            <a:pPr algn="l">
              <a:spcAft>
                <a:spcPts val="600"/>
              </a:spcAft>
              <a:defRPr sz="1600" b="0">
                <a:solidFill>
                  <a:srgbClr val="242A27"/>
                </a:solidFill>
                <a:latin typeface="Aptos"/>
              </a:defRPr>
            </a:pPr>
            <a:r>
              <a:rPr dirty="0"/>
              <a:t>need-first navigation experience that can help users </a:t>
            </a:r>
            <a:endParaRPr lang="en-US" dirty="0"/>
          </a:p>
          <a:p>
            <a:pPr algn="l">
              <a:spcAft>
                <a:spcPts val="600"/>
              </a:spcAft>
              <a:defRPr sz="1600" b="0">
                <a:solidFill>
                  <a:srgbClr val="242A27"/>
                </a:solidFill>
                <a:latin typeface="Aptos"/>
              </a:defRPr>
            </a:pPr>
            <a:r>
              <a:rPr dirty="0"/>
              <a:t>move from a healthcare question to a clear next step. </a:t>
            </a:r>
            <a:endParaRPr lang="en-US" dirty="0"/>
          </a:p>
          <a:p>
            <a:pPr algn="l">
              <a:spcAft>
                <a:spcPts val="600"/>
              </a:spcAft>
              <a:defRPr sz="1600" b="0">
                <a:solidFill>
                  <a:srgbClr val="242A27"/>
                </a:solidFill>
                <a:latin typeface="Aptos"/>
              </a:defRPr>
            </a:pPr>
            <a:r>
              <a:rPr dirty="0"/>
              <a:t>A pilot with verified hospital information and local </a:t>
            </a:r>
            <a:endParaRPr lang="en-US" dirty="0"/>
          </a:p>
          <a:p>
            <a:pPr algn="l">
              <a:spcAft>
                <a:spcPts val="600"/>
              </a:spcAft>
              <a:defRPr sz="1600" b="0">
                <a:solidFill>
                  <a:srgbClr val="242A27"/>
                </a:solidFill>
                <a:latin typeface="Aptos"/>
              </a:defRPr>
            </a:pPr>
            <a:r>
              <a:rPr dirty="0"/>
              <a:t>support should be tested before wider use.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86384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45747"/>
                </a:solidFill>
                <a:latin typeface="Aptos"/>
              </a:defRPr>
            </a:pPr>
            <a:r>
              <a:rPr dirty="0"/>
              <a:t>PM-JAY CLAIM GPS  /  REFERENCES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73968" cy="10972"/>
          </a:xfrm>
          <a:prstGeom prst="rect">
            <a:avLst/>
          </a:prstGeom>
          <a:solidFill>
            <a:srgbClr val="DCDDD5"/>
          </a:solidFill>
          <a:ln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26A64"/>
                </a:solidFill>
                <a:latin typeface="Aptos"/>
              </a:defRPr>
            </a:pPr>
            <a:r>
              <a:rPr dirty="0"/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173D32"/>
                </a:solidFill>
                <a:latin typeface="Aptos"/>
              </a:defRPr>
            </a:pPr>
            <a:r>
              <a:rPr dirty="0"/>
              <a:t>References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44752"/>
            <a:ext cx="109728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26A64"/>
                </a:solidFill>
                <a:latin typeface="Aptos"/>
              </a:defRPr>
            </a:pPr>
            <a:r>
              <a:rPr dirty="0"/>
              <a:t>Sources listed in the original project 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69848" y="1965960"/>
            <a:ext cx="1022299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42A27"/>
                </a:solidFill>
                <a:latin typeface="Aptos"/>
              </a:defRPr>
            </a:pPr>
            <a:r>
              <a:rPr dirty="0"/>
              <a:t>National Health Authority (NHA) – PM-JAY Operation Manual.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24328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69848" y="2532888"/>
            <a:ext cx="1022299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42A27"/>
                </a:solidFill>
                <a:latin typeface="Aptos"/>
              </a:defRPr>
            </a:pPr>
            <a:r>
              <a:rPr dirty="0"/>
              <a:t>National Health Authority – official PM-JAY portal and hospital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191256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069848" y="3099816"/>
            <a:ext cx="3995133" cy="30469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42A27"/>
                </a:solidFill>
                <a:latin typeface="Aptos"/>
              </a:defRPr>
            </a:pPr>
            <a:r>
              <a:rPr dirty="0"/>
              <a:t>NITI Aayog – Aspirational Districts </a:t>
            </a:r>
            <a:r>
              <a:rPr lang="en-IN" dirty="0"/>
              <a:t>Programmed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758183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069848" y="3666744"/>
            <a:ext cx="1022299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42A27"/>
                </a:solidFill>
                <a:latin typeface="Aptos"/>
              </a:defRPr>
            </a:pPr>
            <a:r>
              <a:rPr dirty="0"/>
              <a:t>NITI Aayog – Stories of Change.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325112"/>
            <a:ext cx="91440" cy="91440"/>
          </a:xfrm>
          <a:prstGeom prst="roundRect">
            <a:avLst>
              <a:gd name="adj" fmla="val 8000"/>
            </a:avLst>
          </a:prstGeom>
          <a:solidFill>
            <a:srgbClr val="245747"/>
          </a:solidFill>
          <a:ln>
            <a:solidFill>
              <a:srgbClr val="24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069848" y="4233672"/>
            <a:ext cx="10222992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42A27"/>
                </a:solidFill>
                <a:latin typeface="Aptos"/>
              </a:defRPr>
            </a:pPr>
            <a:r>
              <a:rPr dirty="0"/>
              <a:t>Primary research – team Google Form questionnaire and supplied response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1040</Words>
  <Application>Microsoft Office PowerPoint</Application>
  <PresentationFormat>Widescreen</PresentationFormat>
  <Paragraphs>175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Avdhut Madhavi</dc:creator>
  <cp:keywords/>
  <dc:description>generated using python-pptx</dc:description>
  <cp:lastModifiedBy>Avdhut Madhavi</cp:lastModifiedBy>
  <cp:revision>25</cp:revision>
  <dcterms:created xsi:type="dcterms:W3CDTF">2013-01-27T09:14:16Z</dcterms:created>
  <dcterms:modified xsi:type="dcterms:W3CDTF">2026-10-21T19:41:50Z</dcterms:modified>
  <cp:category/>
</cp:coreProperties>
</file>